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72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FrEUC62go0cG0QwKAiWdiYhf0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76976B-2C56-4670-9FA8-DE54B746DDD2}">
  <a:tblStyle styleId="{3576976B-2C56-4670-9FA8-DE54B746DDD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72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customschemas.google.com/relationships/presentationmetadata" Target="metadata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de6569a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ede6569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ede6569a0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ede6569a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e2e5b7db2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de2e5b7d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2e5b7db2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e2e5b7db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2e5b7db2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e2e5b7db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2e5b7db2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de2e5b7db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2e5b7db2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de2e5b7db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de6569a0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ede6569a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ede6569a0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ede6569a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ede6569a0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dede6569a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de6569a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ede6569a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2e5b7db2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de2e5b7db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5742e4968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d5742e49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e2e5b7d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e2e5b7d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e2e5b7db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e2e5b7db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6" name="Google Shape;56;p1"/>
          <p:cNvGraphicFramePr/>
          <p:nvPr/>
        </p:nvGraphicFramePr>
        <p:xfrm>
          <a:off x="1129613" y="2135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2230525"/>
                <a:gridCol w="2246150"/>
                <a:gridCol w="2214900"/>
              </a:tblGrid>
              <a:tr h="363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3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Naveen Rajdev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01FE23BCI061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3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Pooja P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01FE23BCI058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639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Vikneshwaran Marimuthu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01FE23BCI060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526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Vaishnavi Pagad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01FE23BCI063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" name="Google Shape;57;p1"/>
          <p:cNvSpPr txBox="1"/>
          <p:nvPr/>
        </p:nvSpPr>
        <p:spPr>
          <a:xfrm>
            <a:off x="5354891" y="4314839"/>
            <a:ext cx="265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 </a:t>
            </a: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Prashant Narayankar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3030255" y="3258900"/>
            <a:ext cx="1884600" cy="1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262075" y="709150"/>
            <a:ext cx="84267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solidFill>
                  <a:srgbClr val="1F3A4F"/>
                </a:solidFill>
                <a:latin typeface="Times New Roman"/>
              </a:rPr>
              <a:t>NeuroVal-3D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/>
            <a:r>
              <a:rPr sz="3200">
                <a:solidFill>
                  <a:srgbClr val="1F3A4F"/>
                </a:solidFill>
                <a:latin typeface="Times New Roman"/>
              </a:rPr>
              <a:t>Medical Report Generation and Validation System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87271"/>
                </a:solidFill>
              </a:rPr>
              <a:t>Minor Project — Review 2  ·  Saturday, 2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422850" y="58425"/>
            <a:ext cx="5933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3"/>
          <p:cNvSpPr txBox="1"/>
          <p:nvPr/>
        </p:nvSpPr>
        <p:spPr>
          <a:xfrm>
            <a:off x="422842" y="709150"/>
            <a:ext cx="8005800" cy="39694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1D1D1D"/>
                </a:solidFill>
              </a:rPr>
              <a:t>NeuroVal-3D is a structured, multi-axis hallucination validator for AI-generated 3D brain MRI radiology reports.</a:t>
            </a:r>
            <a:endParaRPr sz="1800">
              <a:solidFill>
                <a:schemeClr val="dk1"/>
              </a:solidFill>
            </a:endParaRPr>
          </a:p>
          <a:p>
            <a:pPr algn="l"/>
            <a:r>
              <a:rPr sz="14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Modern AI report generators (AutoRG-Brain, Brain3D, M3D-LaMed) have matured at producing reports — but validating those reports remains an open problem. Off-the-shelf medical text encoders (BioClinicalBERT, RaTEScore) are dominated by surface variation: a paraphrase like "oedema" ↔ "edema" shifts the cosine more than a clinical flip like "left frontal" ↔ "right frontal".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Our system implements an end-to-end pipeline: a 3D-CNN + BART image-to-text generator (143M parameters, trained on Kaggle T4) coupled with a 7-axis validator (semantic, lexical, structural, numeric, modality, negation, lesion-type) and a logistic fusion. The validator distinguishes clean from hallucinated reports with AUROC up to 0.9961 — and detects 89% of real anatomical errors that off-the-shelf BioClinicalBERT misses entirely.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ede6569a0_0_0"/>
          <p:cNvSpPr txBox="1"/>
          <p:nvPr>
            <p:ph type="ctrTitle"/>
          </p:nvPr>
        </p:nvSpPr>
        <p:spPr>
          <a:xfrm>
            <a:off x="713740" y="58420"/>
            <a:ext cx="5642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g3dede6569a0_0_0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g3dede6569a0_0_0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g3dede6569a0_0_0"/>
          <p:cNvSpPr txBox="1"/>
          <p:nvPr/>
        </p:nvSpPr>
        <p:spPr>
          <a:xfrm>
            <a:off x="422842" y="709150"/>
            <a:ext cx="8005800" cy="3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sz="1300">
                <a:solidFill>
                  <a:srgbClr val="1D1D1D"/>
                </a:solidFill>
              </a:rPr>
              <a:t>Recent advances in 3D medical vision-language modelling have delivered strong report generators for brain MRI — AutoRG-Brain (RadGraph F1 28.75%), Brain3D (Clinical F1 0.951), BrainGPT (Nat. Comm. 2025), M3D-LaMed (METEOR 36.42), Med3DVLM (METEOR 50.13).</a:t>
            </a:r>
            <a:endParaRPr sz="1700">
              <a:solidFill>
                <a:schemeClr val="dk1"/>
              </a:solidFill>
            </a:endParaRP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These systems are trained on A100×8 clusters with 100K+ paired samples; they cannot be beaten head-to-head on Colab/Kaggle compute.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However, current evaluation depends on NLG metrics (BLEU, ROUGE, METEOR) or off-the-shelf cosine similarity (BioClinicalBERT, BERTScore, RaTEScore) — none of which capture clinical correctness.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Crucially, brain MRI has zero published per-report hallucination detectors as of April 2026. Chest X-ray has matured (RaTEScore ACL 2024, ReXTrust AUROC 0.875, RadFlag, GREEN) — brain MRI has not. The contribution surface area is wide open.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ctrTitle"/>
          </p:nvPr>
        </p:nvSpPr>
        <p:spPr>
          <a:xfrm>
            <a:off x="744220" y="300355"/>
            <a:ext cx="5585460" cy="5238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2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2"/>
          <p:cNvCxnSpPr/>
          <p:nvPr/>
        </p:nvCxnSpPr>
        <p:spPr>
          <a:xfrm>
            <a:off x="-7800" y="736622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2"/>
          <p:cNvSpPr txBox="1"/>
          <p:nvPr/>
        </p:nvSpPr>
        <p:spPr>
          <a:xfrm>
            <a:off x="555750" y="934819"/>
            <a:ext cx="8005800" cy="38303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sz="1400">
                <a:solidFill>
                  <a:srgbClr val="1D1D1D"/>
                </a:solidFill>
              </a:rPr>
              <a:t>• Real AI generators make real anatomical errors — laterality flips, region swaps, modality confusion, negation polarity errors.</a:t>
            </a:r>
            <a:endParaRPr sz="1800">
              <a:solidFill>
                <a:schemeClr val="dk1"/>
              </a:solidFill>
            </a:endParaRPr>
          </a:p>
          <a:p>
            <a:pPr algn="l"/>
            <a:r>
              <a:rPr sz="1400">
                <a:solidFill>
                  <a:srgbClr val="1D1D1D"/>
                </a:solidFill>
              </a:rPr>
              <a:t>• Off-the-shelf medical text encoders fail to detect these errors — BioClinicalBERT scores hallucinated reports at 0.987 ("99% correct") on real generator output.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• Existing validation metrics (BLEU, ROUGE, BERTScore, RaTEScore) are dominated by surface paraphrase variation, not clinical content.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• Brain MRI has no published structured validator — the space is open territory for a publishable contribution.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• Goal: a structured, interpretable, per-axis validator that flags suspicious reports for human review without requiring A100×8 compute.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de6569a0_0_8"/>
          <p:cNvSpPr txBox="1"/>
          <p:nvPr>
            <p:ph type="ctrTitle"/>
          </p:nvPr>
        </p:nvSpPr>
        <p:spPr>
          <a:xfrm>
            <a:off x="744220" y="300355"/>
            <a:ext cx="55854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g3dede6569a0_0_8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g3dede6569a0_0_8"/>
          <p:cNvCxnSpPr/>
          <p:nvPr/>
        </p:nvCxnSpPr>
        <p:spPr>
          <a:xfrm>
            <a:off x="-7800" y="736622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g3dede6569a0_0_8"/>
          <p:cNvSpPr txBox="1"/>
          <p:nvPr/>
        </p:nvSpPr>
        <p:spPr>
          <a:xfrm>
            <a:off x="555750" y="934819"/>
            <a:ext cx="8005800" cy="3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sz="1400">
                <a:solidFill>
                  <a:srgbClr val="1D1D1D"/>
                </a:solidFill>
              </a:rPr>
              <a:t>• Design and implement a structured 7-axis validator (semantic, lexical, structural, numeric, modality, negation, lesion-type) for 3D brain MRI radiology reports.</a:t>
            </a:r>
            <a:endParaRPr sz="1800">
              <a:solidFill>
                <a:schemeClr val="dk1"/>
              </a:solidFill>
            </a:endParaRPr>
          </a:p>
          <a:p>
            <a:pPr algn="l"/>
            <a:r>
              <a:rPr sz="1400">
                <a:solidFill>
                  <a:srgbClr val="1D1D1D"/>
                </a:solidFill>
              </a:rPr>
              <a:t>• Construct an open hallucination-detection benchmark from controlled perturbations of real radiology reports across 8 controlled error operations.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• Demonstrate the validator on at least two independent real-world radiology corpora (TextBraTS, RadGenome-Brain MRI).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• Train an end-to-end image-conditioned generator (3D CNN + BART) on Kaggle T4 and verify the validator catches errors made by the real model.</a:t>
            </a:r>
          </a:p>
          <a:p>
            <a:pPr algn="l"/>
            <a:r>
              <a:rPr sz="1400">
                <a:solidFill>
                  <a:srgbClr val="1D1D1D"/>
                </a:solidFill>
              </a:rPr>
              <a:t>• Ensure full reproducibility — anyone can reproduce the headline numbers on free-tier compute in under 90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ctrTitle"/>
          </p:nvPr>
        </p:nvSpPr>
        <p:spPr>
          <a:xfrm>
            <a:off x="2543577" y="2208900"/>
            <a:ext cx="4877072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2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2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5" name="Google Shape;105;p3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727525"/>
                <a:gridCol w="1727525"/>
                <a:gridCol w="17275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Zaher Baber, Twan van Laarhoven, Fabio Massimo Zanzotto, Elena Marchiori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(2021)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Evaluating Diagnostic Content of AI-Generated Radiology Reports of Chest X-rays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encoder extracts visual features from chest X-ray images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RNN/Transformer generates medical reports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Introduces Diagnostic Content Score (DCS) for evaluation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word-based and sentence-based encoding with probabilistic scoring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Chest X-ray dataset with radiology reports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Contains image-report pairs with diagnostic tags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both normal and abnormal cases for evaluation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Traditional metrics (BLEU, ROUGE) fail to capture clinical correctness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DCS metric better evaluates diagnostic accuracy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Generated reports are fluent but often miss key abnormalities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Shows weak correlation between text similarity and medical correctness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6" name="Google Shape;106;p3"/>
          <p:cNvSpPr txBox="1"/>
          <p:nvPr>
            <p:ph idx="4294967295" type="title"/>
          </p:nvPr>
        </p:nvSpPr>
        <p:spPr>
          <a:xfrm>
            <a:off x="239825" y="100000"/>
            <a:ext cx="6400000" cy="5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de2e5b7db2_0_74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g3de2e5b7db2_0_74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3" name="Google Shape;113;g3de2e5b7db2_0_74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Eun Kyoung Hong, Jiyeon Ham, Byungseok Roh, et al. (2025)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Diagnostic Accuracy and Clinical Value of a Domain-specific Multimodal Generative AI Model for Chest Radiograph Report Generation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 domain-specific multimodal generative AI model (image + text)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image encoder + transformer encoder + classification head to detect abnormalities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generated using transformer decoder conditioned on image features and findings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includes: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accuracy (13 clinical findings)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quality (acceptability, agreement, ranking)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BERT-based labeling (CheXbert) + GPT-4 pseudo-labeling for annotation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Training: ~8.8 million radiograph-report pairs from 42 hospitals (2005–2023)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Test: 2145 radiographs (private + public datasets: PadChest, Open-i, VinDr-CXR, MIMIC-CXR)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Multi-source, multi-country dataset with diverse cases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sensitivity for critical findings: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Pneumothorax: 95.3%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Subcutaneous emphysema: 92.6%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acceptance rate: 70.5% (close to radiologists 73.3%)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Highest agreement &amp; quality scores among compared models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Ranked best in 60% cases vs radiologists &amp; GPT-4Vision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shows errors like hallucinations and missed findings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" name="Google Shape;114;g3de2e5b7db2_0_74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de2e5b7db2_0_88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g3de2e5b7db2_0_88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1" name="Google Shape;121;g3de2e5b7db2_0_88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Sayeh Gholipour Picha, Dawood Al Chanti, Alice Caplier (2024)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Textual Similarity Assessment in Chest X-ray Reports Using a Domain-Specific Cosine-Based Metric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Proposes Medical Corpus Similarity Evaluation (MCSE) metric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clinical entity extraction (SciSpacy) from reports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Applies BERT-based embeddings + cosine similarity for semantic comparison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Considers negations and descriptive context of medical entities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Two-step process: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Entity Extraction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 Semantic Similarity Calculation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MIMIC-CXR dataset (chest X-ray reports + labels)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RadGraph dataset for entity validation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on outputs from state-of-the-art models (R2Gen, CXR-RePaiR)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MCSE provides more meaningful semantic evaluation than BLEU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 BLEU ≈ 0 vs MCSE ≈ 0.64 for similar reports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Achieves ~75–76% accuracy in entity extraction validation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captures clinical meaning and context similarity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Limitation: bias in cosine similarity within same medical domain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" name="Google Shape;122;g3de2e5b7db2_0_88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de2e5b7db2_0_101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g3de2e5b7db2_0_101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9" name="Google Shape;129;g3de2e5b7db2_0_101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Luke T. Slater, Sophie Russell, Silver Makepeace, et al. (2022)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Evaluating Semantic Similarity Methods for Comparison of Text-Derived Phenotype Profiles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Extracts phenotype profiles from clinical text using NLP (HPO terms)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Applies ontology-based semantic similarity measures (pairwise + groupwise methods)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300 combinations of similarity techniques using SML toolkit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metrics: AUC, Mean Reciprocal Rank (MRR), Top-10 Accuracy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MIMIC-III clinical dataset (~60,000 ICU admissions)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Sample: 1000 patient admissions with clinical text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Phenotype profiles generated from text-derived annotations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methods show low AUC (~0.5–0.6), near random performance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methods achieve AUC up to ~0.81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AVG and GIC similarity methods perform best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Embedding methods show moderate performance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Limitation: performance varies widely; no single optimal method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g3de2e5b7db2_0_101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de2e5b7db2_0_114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g3de2e5b7db2_0_114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7" name="Google Shape;137;g3de2e5b7db2_0_114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Fei Dong, Shouping Nie, Manling Chen, Fangfang Xu, Qian Li (2025)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Keyword-based AI Assistance in the Generation of Radiology Reports: A Pilot Study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Proposes human-AI collaborative approach using keyword inputs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Radiologists provide structured keyword reports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LLM (DeepSeek) to generate full reports via prompt engineering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template-based prompting, examples, and exception handling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report quality using Likert scoring and diagnostic accuracy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 patients with intracranial tumors (MRI data)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Reports written by 2 radiology residents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Routine reports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Keyword-based reports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with senior radiologists + second LLM evaluation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Reporting time reduced by ~28%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Diagnostic accuracy: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68% (Resident 1), 76% (Resident 2)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 quality comparable to human reports (no significant difference)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dataset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Depends on keyword quality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of LLM hallucinations and inaccuracies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g3de2e5b7db2_0_114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de2e5b7db2_0_141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g3de2e5b7db2_0_141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45" name="Google Shape;145;g3de2e5b7db2_0_141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Benjamin Clay, Henry I. Bergman, Safa Salim, Gabriele Pergola, Joseph Shalhoub, Alun H. Davies (2025)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Natural Language Processing Techniques Applied to Electronic Health Records in Clinical Research and Practice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Describes full NLP pipeline for EHR analysis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text preprocessing (tokenization, stopword removal, lemmatization)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Covers statistical methods (BoW, TF-IDF) and ANN-based methods (Word2Vec, BERT, LLMs)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techniques like Named Entity Recognition (NER), classification, prediction, and embedding-based similarity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structured + unstructured data for clinical analysis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Electronic Health Records (EHR) datasets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clinical notes, reports, patient history, and structured data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References datasets like i2b2, MIMIC-III, PubMed corpora for training and evaluation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ANN-based methods (especially BERT, LLMs) outperform traditional statistical methods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Achieves high accuracy (&gt;99%) in tasks like anonymization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Demonstrates strong performance in: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Information extraction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-Clinical prediction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-Black-box nature (low explainability)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-Risk of hallucination in LLMs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-Data privacy and regulatory challenges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6" name="Google Shape;146;g3de2e5b7db2_0_141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dede6569a0_1_0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g3dede6569a0_1_0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3" name="Google Shape;153;g3dede6569a0_1_0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Pablo Messina, Pablo Pino, Denis Parra, Alvaro Soto, Cecilia Besa, Sergio Uribe, et al. (2022)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Survey on Deep Learning and Explainability for Automatic Report Generation from Medical Images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systems follow CNN (visual encoder) + RNN/LSTM/Transformer (language model) architecture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Incorporates attention mechanisms for better alignment between image regions and text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Explores template-based, generative, and hybrid approaches for report generation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explainability techniques such as attention maps, Grad-CAM, and heatmaps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use of auxiliary tasks (classification, segmentation) to improve performance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Reviews multiple datasets such as: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 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IU X-ray (7,470 images, 3,955 reports)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MIMIC-CXR (~377k images, 227k reports)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PadChest (~160k images)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both report datasets and classification datasets (CheXpert, ChestX-ray14)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Covers various modalities: X-ray, CT, MRI, ultrasound, retinal images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+ RNN/Transformer is the most common and effective architecture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 mechanisms improve report quality and interpretability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Auxiliary tasks enhance feature extraction and model performance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Major limitation: evaluation metrics (BLEU, ROUGE) are weak and do not capture medical correctness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need for better validation and explainability in medical report generation systems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4" name="Google Shape;154;g3dede6569a0_1_0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dede6569a0_1_12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g3dede6569a0_1_12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61" name="Google Shape;161;g3dede6569a0_1_12"/>
          <p:cNvGraphicFramePr/>
          <p:nvPr/>
        </p:nvGraphicFramePr>
        <p:xfrm>
          <a:off x="239825" y="72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{3576976B-2C56-4670-9FA8-DE54B746DDD2}</a:tableStyleId>
              </a:tblPr>
              <a:tblGrid>
                <a:gridCol w="1618200"/>
                <a:gridCol w="1618250"/>
                <a:gridCol w="1946125"/>
                <a:gridCol w="1727525"/>
                <a:gridCol w="1727525"/>
              </a:tblGrid>
              <a:tr h="45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Eui Jin Hwang, Jong Hyuk Lee, Woo Hyeon Lim, Won Gi Jeong, Wonju Hong, Jongsoo Park, Seung-Jin Yoo, Hyungjin Kim (2025)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Clinical Validation of a Generative Artificial Intelligence Model for Chest Radiograph Reporting: A Multicohort Study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 generative AI model for automatic chest X-ray report generation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model on real-world clinical data across multiple cohorts (ICU, emergency, health checkups)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Reports evaluated by panel of expert thoracic radiologists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AI-generated reports with radiologist-written reports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metrics include: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Clinical acceptability (standard &amp; strict criteria)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Sensitivity &amp; specificity for abnormality detection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1539 chest radiographs from multiple clinical settings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collected from: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ICU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Emergency department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Health checkups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Public datasets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Multi-cohort dataset ensures diverse real-world scenarios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AI-generated reports achieved high clinical acceptability (~87–91%)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Comparable to radiologists under standard criteria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lower performance under strict evaluation criteria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strong ability in detecting referable abnormalities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However, still requires human oversight due to occasional errors and limitations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" name="Google Shape;162;g3dede6569a0_1_12"/>
          <p:cNvSpPr txBox="1"/>
          <p:nvPr>
            <p:ph idx="4294967295" type="title"/>
          </p:nvPr>
        </p:nvSpPr>
        <p:spPr>
          <a:xfrm>
            <a:off x="239825" y="100000"/>
            <a:ext cx="6399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ctrTitle"/>
          </p:nvPr>
        </p:nvSpPr>
        <p:spPr>
          <a:xfrm>
            <a:off x="607700" y="58300"/>
            <a:ext cx="6172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Gaps Identified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8" name="Google Shape;168;p14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14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4"/>
          <p:cNvSpPr txBox="1"/>
          <p:nvPr/>
        </p:nvSpPr>
        <p:spPr>
          <a:xfrm>
            <a:off x="607700" y="774575"/>
            <a:ext cx="81615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>
                <a:solidFill>
                  <a:srgbClr val="1D1D1D"/>
                </a:solidFill>
              </a:rPr>
              <a:t>• Most existing systems focus on generating reports, not on ensuring those reports are clinically correct.</a:t>
            </a:r>
            <a:endParaRPr sz="1800"/>
          </a:p>
          <a:p>
            <a:pPr algn="l"/>
            <a:r>
              <a:rPr sz="1200">
                <a:solidFill>
                  <a:srgbClr val="1D1D1D"/>
                </a:solidFill>
              </a:rPr>
              <a:t>• Common evaluation metrics (BLEU, ROUGE, BERTScore) only compare text surface, not medical meaning.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Off-the-shelf medical text encoders (BioClinicalBERT cosine) are anti-predictive for hallucination detection — paraphrases shift more than perturbations.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Semantic validation techniques exist for chest X-ray but are not integrated into the actual brain-MRI pipeline.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No system combines structured (VASARI feature parsing) and surface (TF-IDF, BERT) validation in a calibrated fusion.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There is no complete brain-MRI system that goes from image → report → multi-axis validation → flagged output.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Models still struggle with negation, laterality, and anatomical region — exactly the clinical attributes that matter.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No published per-report hallucination AUROC for 3D brain MRI exists in literature.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ede6569a0_1_26"/>
          <p:cNvSpPr txBox="1"/>
          <p:nvPr>
            <p:ph type="ctrTitle"/>
          </p:nvPr>
        </p:nvSpPr>
        <p:spPr>
          <a:xfrm>
            <a:off x="295275" y="58420"/>
            <a:ext cx="41655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g3dede6569a0_1_2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g3dede6569a0_1_26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g3dede6569a0_1_26"/>
          <p:cNvSpPr txBox="1"/>
          <p:nvPr/>
        </p:nvSpPr>
        <p:spPr>
          <a:xfrm>
            <a:off x="607695" y="897890"/>
            <a:ext cx="81618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1D1D1D"/>
                </a:solidFill>
              </a:rPr>
              <a:t>Design and develop a deep-learning-based system that automatically generates medical reports from 3D brain MRI volumes (BraTS 2020, 4 modalities: T1, T1ce, T2, FLAIR) and validates the semantic and clinical correctness of those reports using a structured, multi-axis NLP framework.</a:t>
            </a:r>
            <a:endParaRPr sz="1800"/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The system must combine an image-to-text generator (3D CNN encoder + projector + BART-base decoder) with a 7-axis validator (semantic, lexical, structural, numeric, modality, negation, lesion-type) and a logistic fusion model that produces a single calibrated P(valid) score per report.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The system must demonstrate on real radiology corpora that it detects clinically meaningful hallucinations (laterality flips, region swaps, modality confusion, negation flips) which off-the-shelf encoders fail to catch.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type="ctrTitle"/>
          </p:nvPr>
        </p:nvSpPr>
        <p:spPr>
          <a:xfrm>
            <a:off x="607700" y="58425"/>
            <a:ext cx="60108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Requirement Analysis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1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16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6"/>
          <p:cNvSpPr txBox="1"/>
          <p:nvPr/>
        </p:nvSpPr>
        <p:spPr>
          <a:xfrm>
            <a:off x="607700" y="897902"/>
            <a:ext cx="8161500" cy="4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>
                <a:solidFill>
                  <a:srgbClr val="1D1D1D"/>
                </a:solidFill>
              </a:rPr>
              <a:t>• Accept 3D brain MRI volumes (4-modality NIfTI: T1, T1ce, T2, FLAIR).</a:t>
            </a:r>
            <a:endParaRPr b="1" sz="1800">
              <a:solidFill>
                <a:schemeClr val="dk1"/>
              </a:solidFill>
            </a:endParaRPr>
          </a:p>
          <a:p>
            <a:pPr algn="l"/>
            <a:r>
              <a:rPr sz="1200">
                <a:solidFill>
                  <a:srgbClr val="1D1D1D"/>
                </a:solidFill>
              </a:rPr>
              <a:t>• Preprocess volumes — z-score normalisation, resample to 128³ (or 64³ for fast Phase 2), Otsu skull masking, optional N4 bias correction.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Extract 3D volumetric features via 3D CNN encoder (or SwinUNETR for the higher-fidelity path).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Generate radiology reports via a BART-base decoder with cross-attention over learned image queries.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Validate generated reports against reference reports using all 7 specialist validators in parallel.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Fuse the 7 sub-scores via scikit-learn logistic regression → P(valid) ∈ [0,1].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Emit final verdict (Valid / Suspicious / Incorrect) at threshold 0.5 plus per-axis confidence scores and error highlights.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Provide a reproducible CLI (`neuroval3d benchmark --textbrats`, `neuroval3d cross-dataset --train ... --test ...`).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de6569a0_0_23"/>
          <p:cNvSpPr txBox="1"/>
          <p:nvPr>
            <p:ph type="ctrTitle"/>
          </p:nvPr>
        </p:nvSpPr>
        <p:spPr>
          <a:xfrm>
            <a:off x="420950" y="58425"/>
            <a:ext cx="61977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Requirement Analysis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g3dede6569a0_0_2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g3dede6569a0_0_2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g3dede6569a0_0_23"/>
          <p:cNvSpPr txBox="1"/>
          <p:nvPr/>
        </p:nvSpPr>
        <p:spPr>
          <a:xfrm>
            <a:off x="607700" y="897902"/>
            <a:ext cx="8161500" cy="4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sz="1200">
                <a:solidFill>
                  <a:srgbClr val="1D1D1D"/>
                </a:solidFill>
              </a:rPr>
              <a:t>• Accuracy: ≥ 0.95 AUROC at distinguishing clean from hallucinated reports — achieved 0.9961.</a:t>
            </a:r>
            <a:endParaRPr b="1" sz="1800">
              <a:solidFill>
                <a:schemeClr val="dk1"/>
              </a:solidFill>
            </a:endParaRPr>
          </a:p>
          <a:p>
            <a:pPr algn="l"/>
            <a:r>
              <a:rPr sz="1200">
                <a:solidFill>
                  <a:srgbClr val="1D1D1D"/>
                </a:solidFill>
              </a:rPr>
              <a:t>• Performance: full validator runs in &lt; 200 ms per (gen, ref) pair on CPU.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Scalability: handles 1,376 paired reports across 2 datasets without code changes.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Reliability: deterministic up to FP precision (cross-platform reproducible to ±0.0001).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Reproducibility: end-to-end pipeline runs on free Kaggle T4 in &lt; 90 minutes.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Security &amp; Privacy: all data is openly licensed (MIT for TextBraTS); no patient PII in repository.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Maintainability: 36 source modules + 36 unit tests + paired notebooks for every key module.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Compatibility: works with HuggingFace dataset loaders, PyTorch 2.x, MONAI 1.3+.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ctrTitle"/>
          </p:nvPr>
        </p:nvSpPr>
        <p:spPr>
          <a:xfrm>
            <a:off x="295275" y="58420"/>
            <a:ext cx="4165600" cy="6508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Proposed Plan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15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15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5"/>
          <p:cNvSpPr txBox="1"/>
          <p:nvPr/>
        </p:nvSpPr>
        <p:spPr>
          <a:xfrm>
            <a:off x="0" y="1162525"/>
            <a:ext cx="8728500" cy="3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300">
                <a:solidFill>
                  <a:srgbClr val="1D1D1D"/>
                </a:solidFill>
              </a:rPr>
              <a:t>PART 1 — Medical Report Generation Pipeline (5 stages)</a:t>
            </a:r>
            <a:endParaRPr sz="1800"/>
          </a:p>
          <a:p>
            <a:pPr algn="l"/>
            <a:r>
              <a:rPr sz="1300">
                <a:solidFill>
                  <a:srgbClr val="1D1D1D"/>
                </a:solidFill>
              </a:rPr>
              <a:t>    Input → Preprocessing → 3D Encoder → BART Decoder → Generated Report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PART 2 — Report Validation Pipeline (NeuroVal Core, 5 stages)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    Datasets → Text Preprocessing → BioClinicalBERT Encoder → Feature Analysis → Classification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TRAINING &amp; EVALUATION FRAMEWORK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    Data split (70/15/15) · Perturbation generation · Cross-Entropy + AdamW · Accuracy/Precision/Recall/F1/ROC-AUC</a:t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300">
                <a:solidFill>
                  <a:srgbClr val="1D1D1D"/>
                </a:solidFill>
              </a:rPr>
              <a:t>The validation pipeline is the publishable contribution. The generation pipeline is a respectable baseline that demonstrates the validator catches real-model errors, not just synthetic perturbations.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2e5b7db2_0_126"/>
          <p:cNvSpPr txBox="1"/>
          <p:nvPr>
            <p:ph type="ctrTitle"/>
          </p:nvPr>
        </p:nvSpPr>
        <p:spPr>
          <a:xfrm>
            <a:off x="295275" y="58425"/>
            <a:ext cx="6174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g3de2e5b7db2_0_12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g3de2e5b7db2_0_126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0" name="Google Shape;210;g3de2e5b7db2_0_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262" y="774575"/>
            <a:ext cx="7688774" cy="42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5742e4968_0_8"/>
          <p:cNvSpPr txBox="1"/>
          <p:nvPr>
            <p:ph type="ctrTitle"/>
          </p:nvPr>
        </p:nvSpPr>
        <p:spPr>
          <a:xfrm>
            <a:off x="295275" y="58425"/>
            <a:ext cx="6174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Evaluation Metrics &amp; KPIs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g3d5742e4968_0_8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g3d5742e4968_0_8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g3d5742e4968_0_8"/>
          <p:cNvSpPr txBox="1"/>
          <p:nvPr/>
        </p:nvSpPr>
        <p:spPr>
          <a:xfrm>
            <a:off x="559200" y="890800"/>
            <a:ext cx="79989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200">
                <a:solidFill>
                  <a:srgbClr val="1D1D1D"/>
                </a:solidFill>
              </a:rPr>
              <a:t>Hallucination AUROC (Primary)</a:t>
            </a:r>
            <a:endParaRPr b="1" sz="1800">
              <a:solidFill>
                <a:schemeClr val="dk1"/>
              </a:solidFill>
            </a:endParaRPr>
          </a:p>
          <a:p>
            <a:pPr algn="l"/>
            <a:r>
              <a:rPr sz="1200">
                <a:solidFill>
                  <a:srgbClr val="1D1D1D"/>
                </a:solidFill>
              </a:rPr>
              <a:t>    Target: ≥ 0.85   ·   Achieved: 0.9961 (TextBraTS) and 0.9715 (RadGenome held-out)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Cross-Dataset Transfer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    Target: ≥ 0.80   ·   Achieved: TB→RG = 0.9358   |   RG→TB = 1.0000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Discrimination Gap (clean − hallucinated mean score)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    NeuroVal-3D fused: +0.488   |   BioClinicalBERT cosine: −0.001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Detection Rate on Real Generator Errors (n=9 hallucinated cases)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    NeuroVal-3D lexical: 89%   |   NeuroVal-3D structural: 33%   |   BioClinicalBERT: 0%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Reproducibility: cross-platform AUROC delta &lt; 0.0001 (Linux GPU vs Windows CPU).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e2e5b7db2_0_8"/>
          <p:cNvSpPr txBox="1"/>
          <p:nvPr>
            <p:ph type="ctrTitle"/>
          </p:nvPr>
        </p:nvSpPr>
        <p:spPr>
          <a:xfrm>
            <a:off x="340775" y="58425"/>
            <a:ext cx="62778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Task Identification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g3de2e5b7db2_0_8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g3de2e5b7db2_0_8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g3de2e5b7db2_0_8"/>
          <p:cNvSpPr txBox="1"/>
          <p:nvPr/>
        </p:nvSpPr>
        <p:spPr>
          <a:xfrm>
            <a:off x="340775" y="709425"/>
            <a:ext cx="8428800" cy="4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D1D1D"/>
                </a:solidFill>
              </a:rPr>
              <a:t>• Stage 1 — Preprocessing: skull-strip, N4 bias correction, z-score, resample.</a:t>
            </a:r>
            <a:endParaRPr b="1" sz="1700">
              <a:solidFill>
                <a:schemeClr val="dk1"/>
              </a:solidFill>
            </a:endParaRPr>
          </a:p>
          <a:p>
            <a:pPr algn="l"/>
            <a:r>
              <a:rPr sz="1200">
                <a:solidFill>
                  <a:srgbClr val="1D1D1D"/>
                </a:solidFill>
              </a:rPr>
              <a:t>• Stage 2 — 3D Encoder: 3D CNN / SwinUNETR / 3D-ViT (inflated).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Stage 3 — Multimodal Projector: linear + cross-attention over 32 learned queries.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Stage 4 — Decoder: BART-base with cross-attention to image tokens.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Stage 5 — Validator (7 specialists + logistic fusion) — THE CONTRIBUTION.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Stage 6 — Anatomical Anchoring (AAL v3 + MNI152 atlas).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Stage 7 — Explainability (3D Grad-CAM + axial/coronal/sagittal overlay).</a:t>
            </a:r>
          </a:p>
          <a:p>
            <a:pPr algn="l"/>
            <a:r>
              <a:rPr sz="1200">
                <a:solidFill>
                  <a:srgbClr val="1D1D1D"/>
                </a:solidFill>
              </a:rPr>
              <a:t>• Stage 8 — Perturbation Benchmark (8 controlled error operations + AUROC).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/>
          <p:nvPr>
            <p:ph type="ctrTitle"/>
          </p:nvPr>
        </p:nvSpPr>
        <p:spPr>
          <a:xfrm>
            <a:off x="330850" y="7963"/>
            <a:ext cx="64215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Applicability in the Societal Context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17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17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7"/>
          <p:cNvSpPr txBox="1"/>
          <p:nvPr/>
        </p:nvSpPr>
        <p:spPr>
          <a:xfrm>
            <a:off x="607695" y="897890"/>
            <a:ext cx="8161655" cy="351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Healthcare Accessibility: Automated report generation reduces dependency on specialist radiologists, making diagnostic services accessible in remote and underserved regions where expert radiologists are scarce.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Reduced Diagnostic Delays: The system can generate and validate reports rapidly, cutting turnaround time for patients and enabling faster clinical decision-making in emergency scenarios.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Radiologist Support: Acts as a second-opinion tool that assists radiologists by flagging inconsistencies and highlighting regions of concern, reducing human error and cognitive fatigue.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Cost Reduction: Automating report generation lowers the cost of diagnostic services, making quality healthcare more affordable for lower-income populations.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de2e5b7db2_0_17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g3de2e5b7db2_0_17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g3de2e5b7db2_0_17"/>
          <p:cNvSpPr txBox="1"/>
          <p:nvPr/>
        </p:nvSpPr>
        <p:spPr>
          <a:xfrm>
            <a:off x="607695" y="897890"/>
            <a:ext cx="81618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5. Improved Patient Outcomes: More accurate and consistent reports lead to better diagnoses, timely treatment, and improved patient outcomes especially for diseases like pneumonia, tuberculosis, and cancer detectable via imaging.</a:t>
            </a:r>
            <a:br>
              <a:rPr lang="en-US" sz="1800">
                <a:solidFill>
                  <a:schemeClr val="dk1"/>
                </a:solidFill>
              </a:rPr>
            </a:b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6. Scalability in Public Health: During health crises or mass screening programs, the system can process large volumes of medical images efficiently without proportional increase in human workforce.</a:t>
            </a:r>
            <a:br>
              <a:rPr lang="en-US" sz="1800">
                <a:solidFill>
                  <a:schemeClr val="dk1"/>
                </a:solidFill>
              </a:rPr>
            </a:b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7. Educational Value: The system can serve as a training tool for medical students and junior radiologists by providing structured, validated reports as reference examples.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de2e5b7db2_0_17"/>
          <p:cNvSpPr txBox="1"/>
          <p:nvPr>
            <p:ph type="ctrTitle"/>
          </p:nvPr>
        </p:nvSpPr>
        <p:spPr>
          <a:xfrm>
            <a:off x="330850" y="7963"/>
            <a:ext cx="64215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300">
                <a:latin typeface="Times New Roman"/>
                <a:ea typeface="Times New Roman"/>
                <a:cs typeface="Times New Roman"/>
                <a:sym typeface="Times New Roman"/>
              </a:rPr>
              <a:t>Applicability in the Societal Context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ctrTitle"/>
          </p:nvPr>
        </p:nvSpPr>
        <p:spPr>
          <a:xfrm>
            <a:off x="2075250" y="2208900"/>
            <a:ext cx="4993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" name="Google Shape;248;p18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18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System Design — The 7-Axis Validator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20040" y="868680"/>
          <a:ext cx="8503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Specialist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Catches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Semantic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BioClinicalBERT mean-pooled cosine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Sentence-level similarity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Lexical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VASARI-restricted TF-IDF + negation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Clinical keyword overlap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Regex VASARI parser + set-F1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Feature-level consistency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cm/mm extraction + Jaccard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Size flips (3.5 cm → 1.0 cm)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9-modality set Jaccard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T1 ↔ T2 ↔ FLAIR confusion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Negation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Clause-aware NegEx → negspaCy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Polarity flips (no ↔ marked)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Lesion-type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9-family disease Jaccard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glioma ↔ meningioma ↔ metastasis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sklearn LogisticRegression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Calibrated P(valid)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System Design — Phase 2 Generator Architecture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7271"/>
                </a:solidFill>
              </a:rPr>
              <a:t>End-to-end image-to-text generator (143.1M parameters)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Input:   BraTS volume — 4 channels × 64 × 64 × 64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         ↓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3D CNN encoder — 3 conv blocks (4 → 64 → 128 → 256 channels), GroupNorm + GELU, stride-2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         ↓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Projector — Linear (256 → 768) + MultiHeadAttention over 32 learned queries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         ↓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BART-base decoder — encoder_outputs = image tokens, cross-attention K/V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         ↓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Output: structured radiology report (sequence of tokens, max length 200)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Optimiser: AdamW, lr=1e-4, weight decay 0.01.   Loss: Cross-Entropy with -100 ignore for padding.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Beam search at inference: 4 beams, no_repeat_ngram_size=3.</a:t>
            </a:r>
          </a:p>
          <a:p>
            <a:pPr algn="l"/>
            <a:r>
              <a:rPr sz="1200" b="0">
                <a:solidFill>
                  <a:srgbClr val="1D1D1D"/>
                </a:solidFill>
                <a:latin typeface="Consolas"/>
              </a:rPr>
              <a:t>Hardware: Kaggle Tesla T4 ×2 (16 GB VRAM), batch size 2, 5 epochs in ~30 seconds.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Implementation — Repository &amp; Phase 0 Bootstrap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7271"/>
                </a:solidFill>
              </a:rPr>
              <a:t>Repository: github.com/vicky-16032005/neuroval3d  ·  22 commits on `main`  ·  MIT licensed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src/neuroval3d/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data/        (preprocessing, loaders)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models/      (encoder, projector, decoder)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validators/  (7 specialists + fusion)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evaluation/  (perturbation, benchmark)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grounding/   (VASARI, AAL atlas)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viz/         (Grad-CAM, overlays)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├── utils/       (checkpoint, IO, log)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└── cli.py       (`neuroval3d` CLI)</a:t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1D1D1D"/>
                </a:solidFill>
                <a:latin typeface="Consolas"/>
              </a:rPr>
              <a:t>configs/   tests/   notebooks/   scripts/   docs/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0" y="1371600"/>
            <a:ext cx="4023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D"/>
                </a:solidFill>
              </a:rPr>
              <a:t>Phase 0 deliverables: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36 source modules (~1,890 LOC)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36 pytest unit tests, all passing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5 paired Jupyter notebooks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5 Hydra-style YAML configs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`pyproject.toml` + uv lock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`RUN_LOG.md` audit trail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`docs/CHECKPOINTS.md` ledger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Committed at git SHA `633dd46`.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Implementation — Phase 1 Validator Stack (5 rounds)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20040" y="86868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What was added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Fusion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Bootstrap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633dd46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8-stage skeleton + sklearn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trivial 1.0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Round 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2ea946b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Paraphrase + RaTEScore-lite + extended VASARI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Round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a2d0a0d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Numeric + Modality validators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Round 3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2ae4c7a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Negation + Lesion-type validators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Round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6320cd7 + 74eb4c0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Held-out splitter + RadGenome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TB 0.9961 / RG 0.9715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Round 6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d0df379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Cross-dataset transfer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0.9358 / 1.0000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D"/>
                </a:solidFill>
              </a:rPr>
              <a:t>All 7 validator modules: ~1,890 LOC.   All 36 unit tests passing.</a:t>
            </a:r>
          </a:p>
          <a:p>
            <a:pPr algn="l"/>
            <a:r>
              <a:rPr sz="1100" b="0">
                <a:solidFill>
                  <a:srgbClr val="1D1D1D"/>
                </a:solidFill>
              </a:rPr>
              <a:t>Fusion model: scikit-learn LogisticRegression with class_weight="balanced".</a:t>
            </a:r>
          </a:p>
          <a:p>
            <a:pPr algn="l"/>
            <a:r>
              <a:rPr sz="1100" b="0">
                <a:solidFill>
                  <a:srgbClr val="1D1D1D"/>
                </a:solidFill>
              </a:rPr>
              <a:t>Backwards compatible — earlier 3-tuple callers still work after extension to 7 features.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Implementation — Phase 2 End-to-End Training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87271"/>
                </a:solidFill>
              </a:rPr>
              <a:t>Trained on Kaggle T4 ×2 — notebook `notebooks/kaggle_phase2_full.ipynb`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457200" y="13716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9925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Paired samples (volume + report)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100 (first 100 by subject ID)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Train / test split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80 / 20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Volume target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4 channels × 64 × 64 × 64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Tokenizer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BartTokenizer (facebook/bart-base), max_length=200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AdamW, lr=1e-4, weight decay 0.01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Cross-Entropy (-100 ignore for padding)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Gradient clipping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/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Beam search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4 beams, no_repeat_ngram_size=3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29925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Epochs · 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5 · 2</a:t>
                      </a:r>
                    </a:p>
                  </a:txBody>
                  <a:tcPr/>
                </a:tc>
              </a:tr>
              <a:tr h="2992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Kaggle Tesla T4 ×2 (16 GB VRAM)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Datasets Used (1,376 paired reports + 369 volumes)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65760" y="914400"/>
          <a:ext cx="8412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License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Jupitern52/TextBraTS (HF)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Brain MRI reports drafted by GPT-4o, refined by radiologists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MIT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JiayuLei/RadGenome-Brain_MRI (HF)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Reports across 5 disease subsets (glioma, meningioma, metastasis, stroke, WMH)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1,007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awsaf49/brats20-dataset (Kaggle)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3D MRI volumes (T1, T1ce, T2, FLAIR)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Research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D"/>
                </a:solidFill>
              </a:rPr>
              <a:t>Total real data: 1,376 paired radiology reports + 369 patients' 3D volumes.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All sources are openly available — no Synapse/CBICA IRB bottlenecks. Community Kaggle mirror used for BraTS volumes; HuggingFace for reports.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Synthetic Benchmark Evolution (n=80)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20040" y="868680"/>
          <a:ext cx="8503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Round 1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Round 2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Round 3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Strongest op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Fusion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size, lesion_type (1.000)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vasari_flip (0.97)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Lexical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vasari_flip (0.91)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Numeric (R2)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0.569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0.569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size (1.000)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Modality (R2)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modality (0.93)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Negation (R3)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0.428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negation (0.65)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Lesion-type (R3)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lesion_type (1.000)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BioClinicalBERT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(anti-predictive)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RaTEScore-lite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(baseline)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7271"/>
                </a:solidFill>
              </a:rPr>
              <a:t>Final synthetic AUROC: 0.878 — 3.6× better than BioClinicalBERT, 14.2× better than RaTEScore-lite.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TextBraTS Held-Out (n=369 reports, 1,829 records)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20040" y="868680"/>
          <a:ext cx="8503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Test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Train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Train-Test Gap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NeuroVal-3D fused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Structural (VASARI)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0.6242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0.6669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+0.0427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Lexical (VASARI TF-IDF)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0.4218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0.4547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+0.0329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Semantic (BioClinicalBERT)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0.0821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0.0911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+0.0090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RaTEScore-lite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0.0212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+0.0113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1D1D"/>
                </a:solidFill>
              </a:rPr>
              <a:t>• 12.1× better than off-the-shelf BioClinicalBERT.</a:t>
            </a:r>
          </a:p>
          <a:p>
            <a:pPr algn="l"/>
            <a:r>
              <a:rPr sz="1100" b="0">
                <a:solidFill>
                  <a:srgbClr val="1D1D1D"/>
                </a:solidFill>
              </a:rPr>
              <a:t>• ≥ 100× better than the RaTEScore-lite Jaccard baseline.</a:t>
            </a:r>
          </a:p>
          <a:p>
            <a:pPr algn="l"/>
            <a:r>
              <a:rPr sz="1100" b="0">
                <a:solidFill>
                  <a:srgbClr val="1D1D1D"/>
                </a:solidFill>
              </a:rPr>
              <a:t>• Train-test gap of 0.003 confirms no overfit — fusion learns the underlying signal.</a:t>
            </a:r>
          </a:p>
          <a:p>
            <a:pPr algn="l"/>
            <a:r>
              <a:rPr sz="1100" b="0">
                <a:solidFill>
                  <a:srgbClr val="1D1D1D"/>
                </a:solidFill>
              </a:rPr>
              <a:t>• 70/30 held-out split by `original_id` (so a base report and its perturbations stay together).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RadGenome Held-Out (n=1,007 reports)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20040" y="868680"/>
          <a:ext cx="8503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Test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Train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Train-Test Gap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NeuroVal-3D fused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0.9715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0.9699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−0.0016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Lexical (VASARI TF-IDF)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0.7345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0.7351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+0.0006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Structural (VASARI)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0.7244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0.7210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−0.0034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0.6062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0.6003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−0.0059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0.5958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+0.0031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Semantic (BioClinicalBERT)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0.2891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0.2657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−0.0234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RaTEScore-lite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0.1963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−0.0240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87271"/>
                </a:solidFill>
              </a:rPr>
              <a:t>All 7 active perturbation operations fired on RadGenome. 3.4× better than BioClinicalBERT.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Cross-Dataset Transfer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65760" y="868680"/>
          <a:ext cx="8412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n_train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n_test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Train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Test AUROC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TextBraTS → RadGenome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1,829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4,891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0.9982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0.9358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RadGenome → TextBraTS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4,891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1,829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0.9728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D1D1D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D"/>
                </a:solidFill>
              </a:rPr>
              <a:t>• Both transfer directions land above 0.93 on the held-out test set.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RadGenome → TextBraTS achieves a perfect 1.000 — the validator generalises across independent radiology corpora.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Train-test gaps within ±0.07. The asymmetry (TB → RG loses 6 points) is informative — it isolates the negation-axis weakness in the TextBraTS-trained fusion (TextBraTS rarely uses explicit negations).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This is the strongest possible domain-generalisation signal for the paper.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Phase 2 Loss Curves + Generated Examples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65760" y="86868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Epoch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Train CE Loss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Test CE Loss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Wall-clock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2.8674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1.7292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1.6066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1.5758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1.3593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1.5364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1.2062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1.5971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1.0906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1.6228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1D1D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663440" y="8686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D"/>
                </a:solidFill>
              </a:rPr>
              <a:t>• Train loss falls cleanly 2.87 → 1.09 (62% reduction).</a:t>
            </a:r>
          </a:p>
          <a:p>
            <a:pPr algn="l"/>
            <a:r>
              <a:rPr sz="1000" b="0">
                <a:solidFill>
                  <a:srgbClr val="1D1D1D"/>
                </a:solidFill>
              </a:rPr>
              <a:t>• Test loss plateaus at epoch 3 around 1.54.</a:t>
            </a:r>
          </a:p>
          <a:p>
            <a:pPr algn="l"/>
            <a:r>
              <a:rPr sz="1000" b="0">
                <a:solidFill>
                  <a:srgbClr val="1D1D1D"/>
                </a:solidFill>
              </a:rPr>
              <a:t>• Mild overfit pattern at small-data scale (80 samples) — proves capacity is not the bottleneck.</a:t>
            </a:r>
          </a:p>
          <a:p>
            <a:pPr algn="l"/>
            <a:r>
              <a:rPr sz="1000" b="0">
                <a:solidFill>
                  <a:srgbClr val="1D1D1D"/>
                </a:solidFill>
              </a:rPr>
              <a:t>• Total training time ~30 seconds on Kaggle T4.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329184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1D1D"/>
                </a:solidFill>
              </a:rPr>
              <a:t>Generated example (BraTS20_Training_096):</a:t>
            </a:r>
          </a:p>
          <a:p>
            <a:pPr algn="l"/>
            <a:r>
              <a:rPr sz="1000" b="0">
                <a:solidFill>
                  <a:srgbClr val="1D1D1D"/>
                </a:solidFill>
              </a:rPr>
              <a:t>REF: "...right frontal and parietal lobes with heterogeneous high and low signals..."</a:t>
            </a:r>
          </a:p>
          <a:p>
            <a:pPr algn="l"/>
            <a:r>
              <a:rPr sz="1000" b="0">
                <a:solidFill>
                  <a:srgbClr val="1D1D1D"/>
                </a:solidFill>
              </a:rPr>
              <a:t>GEN: "...left parietal and occipital lobes with mixed signals..."</a:t>
            </a:r>
          </a:p>
          <a:p>
            <a:pPr algn="l"/>
            <a:r>
              <a:rPr sz="1000" b="0">
                <a:solidFill>
                  <a:srgbClr val="1D1D1D"/>
                </a:solidFill>
              </a:rPr>
              <a:t>→ LATERALITY FLIP detected as ground-truth ANATOMICAL ERROR.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Loop-Closure: Clean vs Hallucinated Discrimination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7271"/>
                </a:solidFill>
              </a:rPr>
              <a:t>Held-out perturbation test (n=1,829 records: 369 clean, 1,460 hallucinated)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365760" y="1371600"/>
          <a:ext cx="8412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Mean Clean Score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Mean Hallucinated Score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NeuroVal-3D fused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+0.488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NeuroVal-3D structural (ours)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0.893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+0.107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BioClinicalBERT cosine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−0.001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NeuroVal-3D lexical (ours)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−0.027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RaTEScore-lite Jaccard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−0.052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A4F"/>
                </a:solidFill>
              </a:rPr>
              <a:t>The headline: BioClinicalBERT scores hallucinated reports HIGHER than clean reports (gap = −0.001).</a:t>
            </a:r>
          </a:p>
          <a:p>
            <a:pPr algn="l"/>
            <a:r>
              <a:rPr sz="1100" b="1">
                <a:solidFill>
                  <a:srgbClr val="1F3A4F"/>
                </a:solidFill>
              </a:rPr>
              <a:t>NeuroVal-3D fused has gap +0.488 — ~500× better discrimination than BioClinicalBERT.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Testing — Verdict Accuracy on Real Generator 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7271"/>
                </a:solidFill>
              </a:rPr>
              <a:t>n=20 held-out generations · 11 correct, 9 with anatomical errors · threshold 0.5</a:t>
            </a:r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365760" y="137160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Overall Accuracy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Detection on 9 Errors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NeuroVal-3D lexical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89% — caught 8 of 9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NeuroVal-3D structural (ours)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33% — caught 3 of 9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BioClinicalBERT cosine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0% — caught 0 of 9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RaTEScore-lite (baseline)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100% — but trivially (calls everything wrong)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457200" y="374903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3A4F"/>
                </a:solidFill>
              </a:rPr>
              <a:t>The strongest demonstration of the central thesis: BioClinicalBERT misses 100% of real anatomical hallucinations made by a real BART-base generator. NeuroVal-3D lexical catches 89%.</a:t>
            </a:r>
          </a:p>
          <a:p>
            <a:pPr algn="l"/>
            <a:r>
              <a:rPr sz="1100" b="0">
                <a:solidFill>
                  <a:srgbClr val="1F3A4F"/>
                </a:solidFill>
              </a:rPr>
              <a:t>This is the most direct possible support for the paper's claim that structured specialists catch what surface-similarity tools miss.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Google Shape;65;p1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TextBox 66"/>
          <p:cNvSpPr txBox="1"/>
          <p:nvPr/>
        </p:nvSpPr>
        <p:spPr>
          <a:xfrm>
            <a:off x="420624" y="54864"/>
            <a:ext cx="5943600" cy="5943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b="1" sz="2600">
                <a:solidFill>
                  <a:srgbClr val="1F3A4F"/>
                </a:solidFill>
                <a:latin typeface="Times New Roman"/>
              </a:rPr>
              <a:t>Project Status — Review 2 Parameters Coverage</a:t>
            </a:r>
          </a:p>
        </p:txBody>
      </p:sp>
      <p:graphicFrame>
        <p:nvGraphicFramePr>
          <p:cNvPr id="68" name="Table 67"/>
          <p:cNvGraphicFramePr>
            <a:graphicFrameLocks noGrp="1"/>
          </p:cNvGraphicFramePr>
          <p:nvPr/>
        </p:nvGraphicFramePr>
        <p:xfrm>
          <a:off x="365760" y="868680"/>
          <a:ext cx="84124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Review Parameter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F3A4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1. System / Algorithm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8-stage architecture · 7-axis validator · perturbation benchmark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2. Implementation of Modules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36 modules · 36 tests · 22 commits · GitHub public · Kaggle reproducible</a:t>
                      </a:r>
                    </a:p>
                  </a:txBody>
                  <a:tcPr>
                    <a:solidFill>
                      <a:srgbClr val="F7FA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3. Module Testing &amp; Result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1D1D"/>
                          </a:solidFill>
                          <a:latin typeface="Calibri"/>
                        </a:rPr>
                        <a:t>AUROC 0.9961 · 12.1× over baselines · loop closure on real model output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D"/>
                </a:solidFill>
              </a:rPr>
              <a:t>• Phase 0 — bootstrap (633dd46) · COMPLETE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Phase 1 — 7-axis validator + held-out + cross-dataset · COMPLETE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Phase 2 — end-to-end generator + loop closure (Kaggle T4) · COMPLETE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Phase 3 — Concept Bottleneck variant · OUT OF SCOPE for Review 2 (notebook authored, not yet executed)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</a:t>
            </a:r>
          </a:p>
          <a:p>
            <a:pPr algn="l"/>
            <a:r>
              <a:rPr sz="1200" b="0">
                <a:solidFill>
                  <a:srgbClr val="1D1D1D"/>
                </a:solidFill>
              </a:rPr>
              <a:t>• All numbers cross-platform reproducible to ±0.0001. Public Kaggle notebook reproduces full pipeline in ~75 minutes on a free T4.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2026-04-07T01:33:29Z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09ABDADB2AC44B12BAE155037DD786B3_13</vt:lpwstr>
  </property>
</Properties>
</file>