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72">
          <p15:clr>
            <a:srgbClr val="747775"/>
          </p15:clr>
        </p15:guide>
      </p15:sldGuideLst>
    </p:ext>
    <p:ext uri="GoogleSlidesCustomDataVersion2">
      <go:slidesCustomData xmlns:go="http://customooxmlschemas.google.com/" r:id="rId32" roundtripDataSignature="AMtx7mjFrEUC62go0cG0QwKAiWdiYhf0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76976B-2C56-4670-9FA8-DE54B746DDD2}">
  <a:tblStyle styleId="{3576976B-2C56-4670-9FA8-DE54B746DDD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7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ede6569a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3dede6569a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ede6569a0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dede6569a0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e2e5b7db2_0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de2e5b7db2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e2e5b7db2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de2e5b7db2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e2e5b7db2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de2e5b7db2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e2e5b7db2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de2e5b7db2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e2e5b7db2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de2e5b7db2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ede6569a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dede6569a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ede6569a0_1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dede6569a0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ede6569a0_1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dede6569a0_1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ede6569a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dede6569a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e2e5b7db2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de2e5b7db2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5742e496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d5742e496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e2e5b7db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de2e5b7db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e2e5b7db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de2e5b7db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55" name="Google Shape;55;p1"/>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56" name="Google Shape;56;p1"/>
          <p:cNvGraphicFramePr/>
          <p:nvPr/>
        </p:nvGraphicFramePr>
        <p:xfrm>
          <a:off x="1129613" y="2135956"/>
          <a:ext cx="3000000" cy="3000000"/>
        </p:xfrm>
        <a:graphic>
          <a:graphicData uri="http://schemas.openxmlformats.org/drawingml/2006/table">
            <a:tbl>
              <a:tblPr>
                <a:noFill/>
                <a:tableStyleId>{3576976B-2C56-4670-9FA8-DE54B746DDD2}</a:tableStyleId>
              </a:tblPr>
              <a:tblGrid>
                <a:gridCol w="2230525"/>
                <a:gridCol w="2246150"/>
                <a:gridCol w="2214900"/>
              </a:tblGrid>
              <a:tr h="3639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ROLL NO</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USN</a:t>
                      </a:r>
                      <a:endParaRPr b="1" sz="1400" u="none" cap="none" strike="noStrike">
                        <a:latin typeface="Times New Roman"/>
                        <a:ea typeface="Times New Roman"/>
                        <a:cs typeface="Times New Roman"/>
                        <a:sym typeface="Times New Roman"/>
                      </a:endParaRPr>
                    </a:p>
                  </a:txBody>
                  <a:tcPr marT="91425" marB="91425" marR="91425" marL="91425"/>
                </a:tc>
              </a:tr>
              <a:tr h="36390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Naveen Rajdev</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129</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01FE23BCI061</a:t>
                      </a:r>
                      <a:endParaRPr sz="1400" u="none" cap="none" strike="noStrike">
                        <a:latin typeface="Times New Roman"/>
                        <a:ea typeface="Times New Roman"/>
                        <a:cs typeface="Times New Roman"/>
                        <a:sym typeface="Times New Roman"/>
                      </a:endParaRPr>
                    </a:p>
                  </a:txBody>
                  <a:tcPr marT="91425" marB="91425" marR="91425" marL="91425"/>
                </a:tc>
              </a:tr>
              <a:tr h="36390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Pooja P</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222</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01FE23BCI058</a:t>
                      </a:r>
                      <a:endParaRPr sz="1400" u="none" cap="none" strike="noStrike">
                        <a:latin typeface="Times New Roman"/>
                        <a:ea typeface="Times New Roman"/>
                        <a:cs typeface="Times New Roman"/>
                        <a:sym typeface="Times New Roman"/>
                      </a:endParaRPr>
                    </a:p>
                  </a:txBody>
                  <a:tcPr marT="91425" marB="91425" marR="91425" marL="91425"/>
                </a:tc>
              </a:tr>
              <a:tr h="36390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Vikneshwaran Marimuthu</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223</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01FE23BCI060</a:t>
                      </a:r>
                      <a:endParaRPr sz="1400" u="none" cap="none" strike="noStrike">
                        <a:latin typeface="Times New Roman"/>
                        <a:ea typeface="Times New Roman"/>
                        <a:cs typeface="Times New Roman"/>
                        <a:sym typeface="Times New Roman"/>
                      </a:endParaRPr>
                    </a:p>
                  </a:txBody>
                  <a:tcPr marT="91425" marB="91425" marR="91425" marL="91425"/>
                </a:tc>
              </a:tr>
              <a:tr h="352675">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Vaishnavi Pagad</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225</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01FE23BCI063</a:t>
                      </a:r>
                      <a:endParaRPr sz="1400" u="none" cap="none" strike="noStrike">
                        <a:latin typeface="Times New Roman"/>
                        <a:ea typeface="Times New Roman"/>
                        <a:cs typeface="Times New Roman"/>
                        <a:sym typeface="Times New Roman"/>
                      </a:endParaRPr>
                    </a:p>
                  </a:txBody>
                  <a:tcPr marT="91425" marB="91425" marR="91425" marL="91425"/>
                </a:tc>
              </a:tr>
            </a:tbl>
          </a:graphicData>
        </a:graphic>
      </p:graphicFrame>
      <p:sp>
        <p:nvSpPr>
          <p:cNvPr id="57" name="Google Shape;57;p1"/>
          <p:cNvSpPr txBox="1"/>
          <p:nvPr/>
        </p:nvSpPr>
        <p:spPr>
          <a:xfrm>
            <a:off x="5354891" y="4314839"/>
            <a:ext cx="26595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1400" u="sng" cap="none" strike="noStrike">
                <a:solidFill>
                  <a:srgbClr val="000000"/>
                </a:solidFill>
                <a:latin typeface="Times New Roman"/>
                <a:ea typeface="Times New Roman"/>
                <a:cs typeface="Times New Roman"/>
                <a:sym typeface="Times New Roman"/>
              </a:rPr>
              <a:t>Guided By </a:t>
            </a:r>
            <a:r>
              <a:rPr i="0" lang="en-US" sz="1400" u="none" cap="none" strike="noStrike">
                <a:solidFill>
                  <a:srgbClr val="000000"/>
                </a:solidFill>
                <a:latin typeface="Times New Roman"/>
                <a:ea typeface="Times New Roman"/>
                <a:cs typeface="Times New Roman"/>
                <a:sym typeface="Times New Roman"/>
              </a:rPr>
              <a:t>: Prashant Narayankar</a:t>
            </a:r>
            <a:endParaRPr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400" u="none" cap="none" strike="noStrike">
              <a:solidFill>
                <a:srgbClr val="000000"/>
              </a:solidFill>
              <a:latin typeface="Times New Roman"/>
              <a:ea typeface="Times New Roman"/>
              <a:cs typeface="Times New Roman"/>
              <a:sym typeface="Times New Roman"/>
            </a:endParaRPr>
          </a:p>
        </p:txBody>
      </p:sp>
      <p:sp>
        <p:nvSpPr>
          <p:cNvPr id="58" name="Google Shape;58;p1"/>
          <p:cNvSpPr/>
          <p:nvPr/>
        </p:nvSpPr>
        <p:spPr>
          <a:xfrm>
            <a:off x="3030255" y="3258900"/>
            <a:ext cx="1884600" cy="18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400" u="none" cap="none" strike="noStrike">
              <a:solidFill>
                <a:srgbClr val="000000"/>
              </a:solidFill>
              <a:latin typeface="Times New Roman"/>
              <a:ea typeface="Times New Roman"/>
              <a:cs typeface="Times New Roman"/>
              <a:sym typeface="Times New Roman"/>
            </a:endParaRPr>
          </a:p>
        </p:txBody>
      </p:sp>
      <p:sp>
        <p:nvSpPr>
          <p:cNvPr id="59" name="Google Shape;59;p1"/>
          <p:cNvSpPr txBox="1"/>
          <p:nvPr/>
        </p:nvSpPr>
        <p:spPr>
          <a:xfrm>
            <a:off x="262075" y="709150"/>
            <a:ext cx="8426700" cy="11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solidFill>
                  <a:schemeClr val="dk1"/>
                </a:solidFill>
                <a:latin typeface="Times New Roman"/>
                <a:ea typeface="Times New Roman"/>
                <a:cs typeface="Times New Roman"/>
                <a:sym typeface="Times New Roman"/>
              </a:rPr>
              <a:t>Medical Report Generation and Validation </a:t>
            </a:r>
            <a:r>
              <a:rPr b="1" lang="en-US" sz="3600">
                <a:solidFill>
                  <a:schemeClr val="dk1"/>
                </a:solidFill>
                <a:latin typeface="Times New Roman"/>
                <a:ea typeface="Times New Roman"/>
                <a:cs typeface="Times New Roman"/>
                <a:sym typeface="Times New Roman"/>
              </a:rPr>
              <a:t>System </a:t>
            </a:r>
            <a:endParaRPr b="1" sz="36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422850" y="58425"/>
            <a:ext cx="5933400" cy="651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Introduction</a:t>
            </a:r>
            <a:endParaRPr sz="3600">
              <a:latin typeface="Times New Roman"/>
              <a:ea typeface="Times New Roman"/>
              <a:cs typeface="Times New Roman"/>
              <a:sym typeface="Times New Roman"/>
            </a:endParaRPr>
          </a:p>
        </p:txBody>
      </p:sp>
      <p:pic>
        <p:nvPicPr>
          <p:cNvPr id="65" name="Google Shape;65;p13"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66" name="Google Shape;66;p13"/>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67" name="Google Shape;67;p13"/>
          <p:cNvSpPr txBox="1"/>
          <p:nvPr/>
        </p:nvSpPr>
        <p:spPr>
          <a:xfrm>
            <a:off x="422842" y="709150"/>
            <a:ext cx="8005800" cy="3969418"/>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1800">
                <a:solidFill>
                  <a:schemeClr val="dk1"/>
                </a:solidFill>
              </a:rPr>
              <a:t>Medical report generation from images like X-rays and MRI is a complex and time-consuming task. Recent advances in deep learning and NLP enable automatic report generation using CNNs and Transformers. However, existing systems often lack proper validation and may produce clinically incorrect reports. This project focuses on generating and validating medical reports to improve accuracy and reliability.</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3dede6569a0_0_0"/>
          <p:cNvSpPr txBox="1"/>
          <p:nvPr>
            <p:ph type="ctrTitle"/>
          </p:nvPr>
        </p:nvSpPr>
        <p:spPr>
          <a:xfrm>
            <a:off x="713740" y="58420"/>
            <a:ext cx="5642700" cy="651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Background</a:t>
            </a:r>
            <a:endParaRPr sz="3600">
              <a:latin typeface="Times New Roman"/>
              <a:ea typeface="Times New Roman"/>
              <a:cs typeface="Times New Roman"/>
              <a:sym typeface="Times New Roman"/>
            </a:endParaRPr>
          </a:p>
        </p:txBody>
      </p:sp>
      <p:pic>
        <p:nvPicPr>
          <p:cNvPr id="73" name="Google Shape;73;g3dede6569a0_0_0"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74" name="Google Shape;74;g3dede6569a0_0_0"/>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75" name="Google Shape;75;g3dede6569a0_0_0"/>
          <p:cNvSpPr txBox="1"/>
          <p:nvPr/>
        </p:nvSpPr>
        <p:spPr>
          <a:xfrm>
            <a:off x="422842" y="709150"/>
            <a:ext cx="8005800" cy="3969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Recent advances in computer vision and Natural Language Processing (NLP) have enabled automatic medical report generation using models such as CNNs, Vision Transformers, and Transformers for extracting image features and generating text.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These systems achieve BLEU scores in the range of 0.59 to 0.77, indicating moderate to high performance in generating medical reports from images.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Advanced architectures combining CNNs and Transformers also achieve METEOR scores up to 0.74 and BERTScore around 0.78, demonstrating improved semantic understanding and contextual accuracy.</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However, most existing systems focus mainly on report generation and lack proper validation and consistency checking, and studies show that current evaluation metrics like BLEU and ROUGE do not fully capture clinical correctness.</a:t>
            </a:r>
            <a:endParaRPr sz="17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2"/>
          <p:cNvSpPr txBox="1"/>
          <p:nvPr>
            <p:ph type="ctrTitle"/>
          </p:nvPr>
        </p:nvSpPr>
        <p:spPr>
          <a:xfrm>
            <a:off x="744220" y="300355"/>
            <a:ext cx="5585460" cy="523875"/>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Motivation</a:t>
            </a:r>
            <a:endParaRPr sz="3600">
              <a:latin typeface="Times New Roman"/>
              <a:ea typeface="Times New Roman"/>
              <a:cs typeface="Times New Roman"/>
              <a:sym typeface="Times New Roman"/>
            </a:endParaRPr>
          </a:p>
        </p:txBody>
      </p:sp>
      <p:pic>
        <p:nvPicPr>
          <p:cNvPr id="81" name="Google Shape;81;p12"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82" name="Google Shape;82;p12"/>
          <p:cNvCxnSpPr/>
          <p:nvPr/>
        </p:nvCxnSpPr>
        <p:spPr>
          <a:xfrm>
            <a:off x="-7800" y="736622"/>
            <a:ext cx="9159600" cy="35100"/>
          </a:xfrm>
          <a:prstGeom prst="straightConnector1">
            <a:avLst/>
          </a:prstGeom>
          <a:noFill/>
          <a:ln cap="flat" cmpd="sng" w="9525">
            <a:solidFill>
              <a:schemeClr val="dk2"/>
            </a:solidFill>
            <a:prstDash val="solid"/>
            <a:round/>
            <a:headEnd len="sm" w="sm" type="none"/>
            <a:tailEnd len="sm" w="sm" type="none"/>
          </a:ln>
        </p:spPr>
      </p:cxnSp>
      <p:sp>
        <p:nvSpPr>
          <p:cNvPr id="83" name="Google Shape;83;p12"/>
          <p:cNvSpPr txBox="1"/>
          <p:nvPr/>
        </p:nvSpPr>
        <p:spPr>
          <a:xfrm>
            <a:off x="555750" y="934819"/>
            <a:ext cx="8005800" cy="3830364"/>
          </a:xfrm>
          <a:prstGeom prst="rect">
            <a:avLst/>
          </a:prstGeom>
          <a:noFill/>
          <a:ln>
            <a:noFill/>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Manual report generation is time-consuming and error-prone</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Existing systems lack semantic validation</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Need for accurate and verified report generation</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Combine deep learning and NLP validation techniques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Aim to improve reliability and efficiency in healthcare</a:t>
            </a:r>
            <a:endParaRPr sz="1800">
              <a:solidFill>
                <a:schemeClr val="dk1"/>
              </a:solidFill>
            </a:endParaRPr>
          </a:p>
          <a:p>
            <a:pPr indent="0" lvl="0" marL="457200" marR="0" rtl="0" algn="just">
              <a:lnSpc>
                <a:spcPct val="115000"/>
              </a:lnSpc>
              <a:spcBef>
                <a:spcPts val="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dede6569a0_0_8"/>
          <p:cNvSpPr txBox="1"/>
          <p:nvPr>
            <p:ph type="ctrTitle"/>
          </p:nvPr>
        </p:nvSpPr>
        <p:spPr>
          <a:xfrm>
            <a:off x="744220" y="300355"/>
            <a:ext cx="5585400" cy="523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Objectives</a:t>
            </a:r>
            <a:endParaRPr sz="3600">
              <a:latin typeface="Times New Roman"/>
              <a:ea typeface="Times New Roman"/>
              <a:cs typeface="Times New Roman"/>
              <a:sym typeface="Times New Roman"/>
            </a:endParaRPr>
          </a:p>
        </p:txBody>
      </p:sp>
      <p:pic>
        <p:nvPicPr>
          <p:cNvPr id="89" name="Google Shape;89;g3dede6569a0_0_8"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90" name="Google Shape;90;g3dede6569a0_0_8"/>
          <p:cNvCxnSpPr/>
          <p:nvPr/>
        </p:nvCxnSpPr>
        <p:spPr>
          <a:xfrm>
            <a:off x="-7800" y="736622"/>
            <a:ext cx="9159600" cy="35100"/>
          </a:xfrm>
          <a:prstGeom prst="straightConnector1">
            <a:avLst/>
          </a:prstGeom>
          <a:noFill/>
          <a:ln cap="flat" cmpd="sng" w="9525">
            <a:solidFill>
              <a:schemeClr val="dk2"/>
            </a:solidFill>
            <a:prstDash val="solid"/>
            <a:round/>
            <a:headEnd len="sm" w="sm" type="none"/>
            <a:tailEnd len="sm" w="sm" type="none"/>
          </a:ln>
        </p:spPr>
      </p:cxnSp>
      <p:sp>
        <p:nvSpPr>
          <p:cNvPr id="91" name="Google Shape;91;g3dede6569a0_0_8"/>
          <p:cNvSpPr txBox="1"/>
          <p:nvPr/>
        </p:nvSpPr>
        <p:spPr>
          <a:xfrm>
            <a:off x="555750" y="934819"/>
            <a:ext cx="8005800" cy="3830400"/>
          </a:xfrm>
          <a:prstGeom prst="rect">
            <a:avLst/>
          </a:prstGeom>
          <a:noFill/>
          <a:ln>
            <a:noFill/>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Generate medical reports automatically from medical images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Use deep learning models (CNN/Transformer) for feature extraction and text generation</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Validate reports using NLP techniques (BERT, n-grams, TF-IDF)</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Detect errors and ensure clinical correctness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Improve efficiency and support healthcare professionals</a:t>
            </a:r>
            <a:endParaRPr sz="1800">
              <a:solidFill>
                <a:schemeClr val="dk1"/>
              </a:solidFill>
            </a:endParaRPr>
          </a:p>
          <a:p>
            <a:pPr indent="0" lvl="0" marL="0" rtl="0" algn="just">
              <a:lnSpc>
                <a:spcPct val="115000"/>
              </a:lnSpc>
              <a:spcBef>
                <a:spcPts val="0"/>
              </a:spcBef>
              <a:spcAft>
                <a:spcPts val="0"/>
              </a:spcAft>
              <a:buNone/>
            </a:pPr>
            <a:r>
              <a:t/>
            </a:r>
            <a:endParaRPr b="1" sz="1800">
              <a:solidFill>
                <a:schemeClr val="dk1"/>
              </a:solidFill>
            </a:endParaRPr>
          </a:p>
          <a:p>
            <a:pPr indent="0" lvl="0" marL="457200" marR="0" rtl="0" algn="just">
              <a:lnSpc>
                <a:spcPct val="115000"/>
              </a:lnSpc>
              <a:spcBef>
                <a:spcPts val="0"/>
              </a:spcBef>
              <a:spcAft>
                <a:spcPts val="0"/>
              </a:spcAft>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ctrTitle"/>
          </p:nvPr>
        </p:nvSpPr>
        <p:spPr>
          <a:xfrm>
            <a:off x="2543577" y="2208900"/>
            <a:ext cx="4877072" cy="72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Literature Survey</a:t>
            </a:r>
            <a:endParaRPr sz="3600">
              <a:latin typeface="Times New Roman"/>
              <a:ea typeface="Times New Roman"/>
              <a:cs typeface="Times New Roman"/>
              <a:sym typeface="Times New Roman"/>
            </a:endParaRPr>
          </a:p>
        </p:txBody>
      </p:sp>
      <p:pic>
        <p:nvPicPr>
          <p:cNvPr id="97" name="Google Shape;97;p2"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98" name="Google Shape;98;p2"/>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3"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04" name="Google Shape;104;p3"/>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05" name="Google Shape;105;p3"/>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727525"/>
                <a:gridCol w="1727525"/>
                <a:gridCol w="17275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Zaher Baber, Twan van Laarhoven, Fabio Massimo Zanzotto, Elena Marchiori</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rPr>
                        <a:t>(2021)</a:t>
                      </a:r>
                      <a:endParaRPr sz="1100"/>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Evaluating Diagnostic Content of AI-Generated Radiology Reports of Chest X-rays </a:t>
                      </a:r>
                      <a:endParaRPr/>
                    </a:p>
                  </a:txBody>
                  <a:tcPr marT="91425" marB="91425" marR="91425" marL="91425"/>
                </a:tc>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CNN encoder extracts visual features from chest X-ray images</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RNN/Transformer generates medical reports</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Introduces Diagnostic Content Score (DCS) for evaluation</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Uses word-based and sentence-based encoding with probabilistic scoring</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Chest X-ray dataset with radiology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Contains image-report pairs with diagnostic tags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Includes both normal and abnormal cases for evaluation</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Traditional metrics (BLEU, ROUGE) fail to capture clinical correctness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Proposed DCS metric better evaluates diagnostic accuracy</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Generated reports are fluent but often miss key abnormalities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Shows weak correlation between text similarity and medical correctness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06" name="Google Shape;106;p3"/>
          <p:cNvSpPr txBox="1"/>
          <p:nvPr>
            <p:ph idx="4294967295" type="title"/>
          </p:nvPr>
        </p:nvSpPr>
        <p:spPr>
          <a:xfrm>
            <a:off x="239825" y="100000"/>
            <a:ext cx="6400000" cy="5500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sz="2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g3de2e5b7db2_0_74"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12" name="Google Shape;112;g3de2e5b7db2_0_74"/>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13" name="Google Shape;113;g3de2e5b7db2_0_74"/>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Eun Kyoung Hong, Jiyeon Ham, Byungseok Roh, et al. (2025)</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Diagnostic Accuracy and Clinical Value of a Domain-specific Multimodal Generative AI Model for Chest Radiograph Report Generation</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Developed a domain-specific multimodal generative AI model (image + text)</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Uses image encoder + transformer encoder + classification head to detect abnormalities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Report generated using transformer decoder conditioned on image features and findings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Evaluation includes: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Detection accuracy (13 clinical findings)</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Report quality (acceptability, agreement, ranking)</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Uses BERT-based labeling (CheXbert) + GPT-4 pseudo-labeling for annotation</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Training: ~8.8 million radiograph-report pairs from 42 hospitals (2005–2023)</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Test: 2145 radiographs (private + public datasets: PadChest, Open-i, VinDr-CXR, MIMIC-CXR)</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Multi-source, multi-country dataset with diverse cases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High sensitivity for critical findings: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Pneumothorax: 95.3%</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Subcutaneous emphysema: 92.6%</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Report acceptance rate: 70.5% (close to radiologists 73.3%)</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Highest agreement &amp; quality scores among compared models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Ranked best in 60% cases vs radiologists &amp; GPT-4Vision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Still shows errors like hallucinations and missed findings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14" name="Google Shape;114;g3de2e5b7db2_0_74"/>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de2e5b7db2_0_88"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20" name="Google Shape;120;g3de2e5b7db2_0_88"/>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21" name="Google Shape;121;g3de2e5b7db2_0_88"/>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Sayeh Gholipour Picha, Dawood Al Chanti, Alice Caplier (2024)</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Semantic Textual Similarity Assessment in Chest X-ray Reports Using a Domain-Specific Cosine-Based Metric</a:t>
                      </a:r>
                      <a:endParaRPr/>
                    </a:p>
                  </a:txBody>
                  <a:tcPr marT="91425" marB="91425" marR="91425" marL="91425"/>
                </a:tc>
                <a:tc>
                  <a:txBody>
                    <a:bodyPr/>
                    <a:lstStyle/>
                    <a:p>
                      <a:pPr indent="0" lvl="0" marL="0" rtl="0" algn="l">
                        <a:spcBef>
                          <a:spcPts val="0"/>
                        </a:spcBef>
                        <a:spcAft>
                          <a:spcPts val="0"/>
                        </a:spcAft>
                        <a:buNone/>
                      </a:pPr>
                      <a:r>
                        <a:rPr lang="en-US" sz="1100">
                          <a:latin typeface="Times New Roman"/>
                          <a:ea typeface="Times New Roman"/>
                          <a:cs typeface="Times New Roman"/>
                          <a:sym typeface="Times New Roman"/>
                        </a:rPr>
                        <a:t>Proposes Medical Corpus Similarity Evaluation (MCSE) metric</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Uses clinical entity extraction (SciSpacy) from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Applies BERT-based embeddings + cosine similarity for semantic comparison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rPr lang="en-US" sz="1100">
                          <a:latin typeface="Times New Roman"/>
                          <a:ea typeface="Times New Roman"/>
                          <a:cs typeface="Times New Roman"/>
                          <a:sym typeface="Times New Roman"/>
                        </a:rPr>
                        <a:t>Considers negations and descriptive context of medical entities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Two-step process: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Entity Extraction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Domain Semantic Similarity Calculation</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Uses MIMIC-CXR dataset (chest X-ray reports + labels)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Uses RadGraph dataset for entity validation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Evaluates on outputs from state-of-the-art models (R2Gen, CXR-RePaiR)</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MCSE provides more meaningful semantic evaluation than BLEU</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Example: BLEU ≈ 0 vs MCSE ≈ 0.64 for similar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Achieves ~75–76% accuracy in entity extraction validation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Better captures clinical meaning and context similarity</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Limitation: bias in cosine similarity within same medical domain</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22" name="Google Shape;122;g3de2e5b7db2_0_88"/>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g3de2e5b7db2_0_101"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28" name="Google Shape;128;g3de2e5b7db2_0_101"/>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29" name="Google Shape;129;g3de2e5b7db2_0_101"/>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Luke T. Slater, Sophie Russell, Silver Makepeace, et al. (2022)</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Evaluating Semantic Similarity Methods for Comparison of Text-Derived Phenotype Profiles</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Extracts phenotype profiles from clinical text using NLP (HPO terms)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Applies ontology-based semantic similarity measures (pairwise + groupwise methods)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Evaluates 300 combinations of similarity techniques using SML toolkit</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Uses metrics: AUC, Mean Reciprocal Rank (MRR), Top-10 Accuracy</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MIMIC-III clinical dataset (~60,000 ICU admissions)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Sample: 1000 patient admissions with clinical text</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Phenotype profiles generated from text-derived annotations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Most methods show low AUC (~0.5–0.6), near random performance</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Best methods achieve AUC up to ~0.81</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AVG and GIC similarity methods perform best</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Embedding methods show moderate performance</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Limitation: performance varies widely; no single optimal method</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30" name="Google Shape;130;g3de2e5b7db2_0_101"/>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g3de2e5b7db2_0_114"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36" name="Google Shape;136;g3de2e5b7db2_0_114"/>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37" name="Google Shape;137;g3de2e5b7db2_0_114"/>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Fei Dong, Shouping Nie, Manling Chen, Fangfang Xu, Qian Li (2025)</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Keyword-based AI Assistance in the Generation of Radiology Reports: A Pilot Study</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Proposes human-AI collaborative approach using keyword inputs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Radiologists provide structured keyword reports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Uses LLM (DeepSeek) to generate full reports via prompt engineering</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Includes template-based prompting, examples, and exception handling</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Evaluates report quality using Likert scoring and diagnostic accuracy</a:t>
                      </a:r>
                      <a:endParaRPr sz="11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100 patients with intracranial tumors (MRI data)</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Reports written by 2 radiology residents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Includes: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Routine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Keyword-based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Validation with senior radiologists + second LLM evaluation</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Reporting time reduced by ~28%</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Diagnostic accuracy:</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68% (Resident 1), 76% (Resident 2)</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Report quality comparable to human reports (no significant difference)</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Limitations: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Small dataset</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Depends on keyword quality</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Risk of LLM hallucinations and inaccuracies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38" name="Google Shape;138;g3de2e5b7db2_0_114"/>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g3de2e5b7db2_0_141"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44" name="Google Shape;144;g3de2e5b7db2_0_141"/>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45" name="Google Shape;145;g3de2e5b7db2_0_141"/>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Benjamin Clay, Henry I. Bergman, Safa Salim, Gabriele Pergola, Joseph Shalhoub, Alun H. Davies (2025)</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Natural Language Processing Techniques Applied to Electronic Health Records in Clinical Research and Practice</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Describes full NLP pipeline for EHR analysis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Includes text preprocessing (tokenization, stopword removal, lemmatization)</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Covers statistical methods (BoW, TF-IDF) and ANN-based methods (Word2Vec, BERT, LLMs)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Uses techniques like Named Entity Recognition (NER), classification, prediction, and embedding-based similarity</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Combines structured + unstructured data for clinical analysis</a:t>
                      </a:r>
                      <a:endParaRPr sz="11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Uses Electronic Health Records (EHR) datasets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Includes clinical notes, reports, patient history, and structured data</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References datasets like i2b2, MIMIC-III, PubMed corpora for training and evaluation</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ANN-based methods (especially BERT, LLMs) outperform traditional statistical methods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Achieves high accuracy (&gt;99%) in tasks like anonymization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Demonstrates strong performance in: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a:t>
                      </a:r>
                      <a:r>
                        <a:rPr lang="en-US" sz="1100">
                          <a:latin typeface="Times New Roman"/>
                          <a:ea typeface="Times New Roman"/>
                          <a:cs typeface="Times New Roman"/>
                          <a:sym typeface="Times New Roman"/>
                        </a:rPr>
                        <a:t>Information extraction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-Clinical prediction</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Limitations: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-Black-box nature (low explainability)</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-Risk of hallucination in LLMs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-Data privacy and regulatory challenges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46" name="Google Shape;146;g3de2e5b7db2_0_141"/>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3dede6569a0_1_0"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52" name="Google Shape;152;g3dede6569a0_1_0"/>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53" name="Google Shape;153;g3dede6569a0_1_0"/>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Pablo Messina, Pablo Pino, Denis Parra, Alvaro Soto, Cecilia Besa, Sergio Uribe, et al. (2022)</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A Survey on Deep Learning and Explainability for Automatic Report Generation from Medical Images</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Most systems follow CNN (visual encoder) + RNN/LSTM/Transformer (language model) architecture</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Incorporates attention mechanisms for better alignment between image regions and text</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Explores template-based, generative, and hybrid approaches for report generation</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Includes explainability techniques such as attention maps, Grad-CAM, and heatmaps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Evaluates use of auxiliary tasks (classification, segmentation) to improve performance</a:t>
                      </a:r>
                      <a:endParaRPr sz="11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Reviews multiple datasets such as: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a:t>
                      </a:r>
                      <a:r>
                        <a:rPr lang="en-US" sz="1100">
                          <a:latin typeface="Times New Roman"/>
                          <a:ea typeface="Times New Roman"/>
                          <a:cs typeface="Times New Roman"/>
                          <a:sym typeface="Times New Roman"/>
                        </a:rPr>
                        <a:t>IU X-ray (7,470 images, 3,955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MIMIC-CXR (~377k images, 227k reports)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PadChest (~160k images)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Includes both report datasets and classification datasets (CheXpert, ChestX-ray14)</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Covers various modalities: X-ray, CT, MRI, ultrasound, retinal images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CNN + RNN/Transformer is the most common and effective architecture</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Attention mechanisms improve report quality and interpretability</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Auxiliary tasks enhance feature extraction and model performance</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Major limitation: evaluation metrics (BLEU, ROUGE) are weak and do not capture medical correctness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Highlights need for better validation and explainability in medical report generation systems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54" name="Google Shape;154;g3dede6569a0_1_0"/>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g3dede6569a0_1_12"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60" name="Google Shape;160;g3dede6569a0_1_12"/>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graphicFrame>
        <p:nvGraphicFramePr>
          <p:cNvPr id="161" name="Google Shape;161;g3dede6569a0_1_12"/>
          <p:cNvGraphicFramePr/>
          <p:nvPr/>
        </p:nvGraphicFramePr>
        <p:xfrm>
          <a:off x="239825" y="721700"/>
          <a:ext cx="3000000" cy="3000000"/>
        </p:xfrm>
        <a:graphic>
          <a:graphicData uri="http://schemas.openxmlformats.org/drawingml/2006/table">
            <a:tbl>
              <a:tblPr>
                <a:noFill/>
                <a:tableStyleId>{3576976B-2C56-4670-9FA8-DE54B746DDD2}</a:tableStyleId>
              </a:tblPr>
              <a:tblGrid>
                <a:gridCol w="1618200"/>
                <a:gridCol w="1618250"/>
                <a:gridCol w="1946125"/>
                <a:gridCol w="1727525"/>
                <a:gridCol w="1727525"/>
              </a:tblGrid>
              <a:tr h="45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AUTHORS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latin typeface="Times New Roman"/>
                          <a:ea typeface="Times New Roman"/>
                          <a:cs typeface="Times New Roman"/>
                          <a:sym typeface="Times New Roman"/>
                        </a:rPr>
                        <a:t>TITLE</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METHODOLOGY</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DATASET</a:t>
                      </a:r>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b="1" lang="en-US" sz="1200">
                          <a:solidFill>
                            <a:schemeClr val="dk1"/>
                          </a:solidFill>
                          <a:latin typeface="Times New Roman"/>
                          <a:ea typeface="Times New Roman"/>
                          <a:cs typeface="Times New Roman"/>
                          <a:sym typeface="Times New Roman"/>
                        </a:rPr>
                        <a:t>RESULTS</a:t>
                      </a:r>
                      <a:endParaRPr b="1" sz="1200">
                        <a:latin typeface="Times New Roman"/>
                        <a:ea typeface="Times New Roman"/>
                        <a:cs typeface="Times New Roman"/>
                        <a:sym typeface="Times New Roman"/>
                      </a:endParaRPr>
                    </a:p>
                  </a:txBody>
                  <a:tcPr marT="91425" marB="91425" marR="91425" marL="91425"/>
                </a:tc>
              </a:tr>
              <a:tr h="3200000">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Eui Jin Hwang, Jong Hyuk Lee, Woo Hyeon Lim, Won Gi Jeong, Wonju Hong, Jongsoo Park, Seung-Jin Yoo, Hyungjin Kim (2025)</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Clinical Validation of a Generative Artificial Intelligence Model for Chest Radiograph Reporting: A Multicohort Study</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Developed a generative AI model for automatic chest X-ray report generation</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Applied model on real-world clinical data across multiple cohorts (ICU, emergency, health checkups)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Reports evaluated by panel of expert thoracic radiologists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Compared AI-generated reports with radiologist-written reports</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Evaluation metrics include:</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 - </a:t>
                      </a:r>
                      <a:r>
                        <a:rPr lang="en-US" sz="1100">
                          <a:solidFill>
                            <a:schemeClr val="dk1"/>
                          </a:solidFill>
                          <a:latin typeface="Times New Roman"/>
                          <a:ea typeface="Times New Roman"/>
                          <a:cs typeface="Times New Roman"/>
                          <a:sym typeface="Times New Roman"/>
                        </a:rPr>
                        <a:t>Clinical acceptability (standard &amp; strict criteria)</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100">
                          <a:solidFill>
                            <a:schemeClr val="dk1"/>
                          </a:solidFill>
                          <a:latin typeface="Times New Roman"/>
                          <a:ea typeface="Times New Roman"/>
                          <a:cs typeface="Times New Roman"/>
                          <a:sym typeface="Times New Roman"/>
                        </a:rPr>
                        <a:t> - Sensitivity &amp; specificity for abnormality detection</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1539 chest radiographs from multiple clinical settings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Data collected from:</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a:t>
                      </a:r>
                      <a:r>
                        <a:rPr lang="en-US" sz="1100">
                          <a:latin typeface="Times New Roman"/>
                          <a:ea typeface="Times New Roman"/>
                          <a:cs typeface="Times New Roman"/>
                          <a:sym typeface="Times New Roman"/>
                        </a:rPr>
                        <a:t>ICU</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Emergency department</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Health checkups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 - Public datasets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Multi-cohort dataset ensures diverse real-world scenarios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AI-generated reports achieved high clinical acceptability (~87–91%)</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Comparable to radiologists under standard criteria</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Slightly lower performance under strict evaluation criteria</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Demonstrated strong ability in detecting referable abnormalities</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However, still requires human oversight due to occasional errors and limitations</a:t>
                      </a:r>
                      <a:endParaRPr sz="11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txBody>
                  <a:tcPr marT="91425" marB="91425" marR="91425" marL="91425"/>
                </a:tc>
              </a:tr>
            </a:tbl>
          </a:graphicData>
        </a:graphic>
      </p:graphicFrame>
      <p:sp>
        <p:nvSpPr>
          <p:cNvPr id="162" name="Google Shape;162;g3dede6569a0_1_12"/>
          <p:cNvSpPr txBox="1"/>
          <p:nvPr>
            <p:ph idx="4294967295" type="title"/>
          </p:nvPr>
        </p:nvSpPr>
        <p:spPr>
          <a:xfrm>
            <a:off x="239825" y="100000"/>
            <a:ext cx="6399900" cy="5499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2000" u="none" cap="none" strike="noStrik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txBox="1"/>
          <p:nvPr>
            <p:ph type="ctrTitle"/>
          </p:nvPr>
        </p:nvSpPr>
        <p:spPr>
          <a:xfrm>
            <a:off x="607700" y="58300"/>
            <a:ext cx="61722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Research Gaps Identified</a:t>
            </a:r>
            <a:endParaRPr sz="3600">
              <a:latin typeface="Times New Roman"/>
              <a:ea typeface="Times New Roman"/>
              <a:cs typeface="Times New Roman"/>
              <a:sym typeface="Times New Roman"/>
            </a:endParaRPr>
          </a:p>
        </p:txBody>
      </p:sp>
      <p:pic>
        <p:nvPicPr>
          <p:cNvPr id="168" name="Google Shape;168;p14"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69" name="Google Shape;169;p14"/>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170" name="Google Shape;170;p14"/>
          <p:cNvSpPr txBox="1"/>
          <p:nvPr/>
        </p:nvSpPr>
        <p:spPr>
          <a:xfrm>
            <a:off x="607700" y="774575"/>
            <a:ext cx="8161500" cy="43689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US" sz="1800"/>
              <a:t>Most existing systems focus on generating reports, but do not ensure if the report is actually clinically correct</a:t>
            </a:r>
            <a:endParaRPr sz="1800"/>
          </a:p>
          <a:p>
            <a:pPr indent="-342900" lvl="0" marL="457200" rtl="0" algn="l">
              <a:lnSpc>
                <a:spcPct val="115000"/>
              </a:lnSpc>
              <a:spcBef>
                <a:spcPts val="0"/>
              </a:spcBef>
              <a:spcAft>
                <a:spcPts val="0"/>
              </a:spcAft>
              <a:buSzPts val="1800"/>
              <a:buChar char="●"/>
            </a:pPr>
            <a:r>
              <a:rPr lang="en-US" sz="1800"/>
              <a:t>Common evaluation metrics like BLEU and ROUGE only compare text, not medical meaning</a:t>
            </a:r>
            <a:endParaRPr sz="1800"/>
          </a:p>
          <a:p>
            <a:pPr indent="-342900" lvl="0" marL="457200" rtl="0" algn="l">
              <a:lnSpc>
                <a:spcPct val="115000"/>
              </a:lnSpc>
              <a:spcBef>
                <a:spcPts val="0"/>
              </a:spcBef>
              <a:spcAft>
                <a:spcPts val="0"/>
              </a:spcAft>
              <a:buSzPts val="1800"/>
              <a:buChar char="●"/>
            </a:pPr>
            <a:r>
              <a:rPr lang="en-US" sz="1800"/>
              <a:t>Semantic validation techniques exist, but they are not integrated into the actual system pipeline</a:t>
            </a:r>
            <a:endParaRPr sz="1800"/>
          </a:p>
          <a:p>
            <a:pPr indent="-342900" lvl="0" marL="457200" rtl="0" algn="l">
              <a:lnSpc>
                <a:spcPct val="115000"/>
              </a:lnSpc>
              <a:spcBef>
                <a:spcPts val="0"/>
              </a:spcBef>
              <a:spcAft>
                <a:spcPts val="0"/>
              </a:spcAft>
              <a:buSzPts val="1800"/>
              <a:buChar char="●"/>
            </a:pPr>
            <a:r>
              <a:rPr lang="en-US" sz="1800"/>
              <a:t>No system combines both keyword-based checks and semantic understanding together</a:t>
            </a:r>
            <a:endParaRPr sz="1800"/>
          </a:p>
          <a:p>
            <a:pPr indent="-342900" lvl="0" marL="457200" rtl="0" algn="l">
              <a:lnSpc>
                <a:spcPct val="115000"/>
              </a:lnSpc>
              <a:spcBef>
                <a:spcPts val="0"/>
              </a:spcBef>
              <a:spcAft>
                <a:spcPts val="0"/>
              </a:spcAft>
              <a:buSzPts val="1800"/>
              <a:buChar char="●"/>
            </a:pPr>
            <a:r>
              <a:rPr lang="en-US" sz="1800"/>
              <a:t>There is no complete system that goes from image → report → repor</a:t>
            </a:r>
            <a:r>
              <a:rPr lang="en-US" sz="1800"/>
              <a:t>t validation</a:t>
            </a:r>
            <a:endParaRPr sz="1800"/>
          </a:p>
          <a:p>
            <a:pPr indent="-342900" lvl="0" marL="457200" rtl="0" algn="l">
              <a:lnSpc>
                <a:spcPct val="115000"/>
              </a:lnSpc>
              <a:spcBef>
                <a:spcPts val="0"/>
              </a:spcBef>
              <a:spcAft>
                <a:spcPts val="0"/>
              </a:spcAft>
              <a:buSzPts val="1800"/>
              <a:buChar char="●"/>
            </a:pPr>
            <a:r>
              <a:rPr lang="en-US" sz="1800"/>
              <a:t>Models struggle to understand context and negation, which is critical in medical reports</a:t>
            </a:r>
            <a:endParaRPr sz="1800"/>
          </a:p>
          <a:p>
            <a:pPr indent="-342900" lvl="0" marL="457200" rtl="0" algn="l">
              <a:lnSpc>
                <a:spcPct val="115000"/>
              </a:lnSpc>
              <a:spcBef>
                <a:spcPts val="0"/>
              </a:spcBef>
              <a:spcAft>
                <a:spcPts val="0"/>
              </a:spcAft>
              <a:buSzPts val="1800"/>
              <a:buChar char="●"/>
            </a:pPr>
            <a:r>
              <a:rPr lang="en-US" sz="1800"/>
              <a:t>Final reports still require human verification, limiting full automation</a:t>
            </a:r>
            <a:endParaRPr sz="1800"/>
          </a:p>
          <a:p>
            <a:pPr indent="0" lvl="0" marL="914400" marR="0" rtl="0" algn="l">
              <a:lnSpc>
                <a:spcPct val="115000"/>
              </a:lnSpc>
              <a:spcBef>
                <a:spcPts val="0"/>
              </a:spcBef>
              <a:spcAft>
                <a:spcPts val="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dede6569a0_1_26"/>
          <p:cNvSpPr txBox="1"/>
          <p:nvPr>
            <p:ph type="ctrTitle"/>
          </p:nvPr>
        </p:nvSpPr>
        <p:spPr>
          <a:xfrm>
            <a:off x="295275" y="58420"/>
            <a:ext cx="4165500" cy="651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US" sz="3600">
                <a:latin typeface="Times New Roman"/>
                <a:ea typeface="Times New Roman"/>
                <a:cs typeface="Times New Roman"/>
                <a:sym typeface="Times New Roman"/>
              </a:rPr>
              <a:t>Problem Statement</a:t>
            </a:r>
            <a:endParaRPr sz="3600">
              <a:latin typeface="Times New Roman"/>
              <a:ea typeface="Times New Roman"/>
              <a:cs typeface="Times New Roman"/>
              <a:sym typeface="Times New Roman"/>
            </a:endParaRPr>
          </a:p>
        </p:txBody>
      </p:sp>
      <p:pic>
        <p:nvPicPr>
          <p:cNvPr id="176" name="Google Shape;176;g3dede6569a0_1_26"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77" name="Google Shape;177;g3dede6569a0_1_26"/>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178" name="Google Shape;178;g3dede6569a0_1_26"/>
          <p:cNvSpPr txBox="1"/>
          <p:nvPr/>
        </p:nvSpPr>
        <p:spPr>
          <a:xfrm>
            <a:off x="607695" y="897890"/>
            <a:ext cx="8161800" cy="351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t>Design and develop a deep learning-based system to automatically generate medical reports from medical images  (X-rays</a:t>
            </a:r>
            <a:r>
              <a:rPr lang="en-US" sz="1800"/>
              <a:t>) </a:t>
            </a:r>
            <a:r>
              <a:rPr lang="en-US" sz="1800"/>
              <a:t>and validate their semantic correctness using NLP techniques. </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rPr lang="en-US" sz="1800"/>
              <a:t>The system should utilize multimodal deep learning models for accurate report generation and implement a verification module using BERT-based semantic similarity and n-gram analysis to ensure consistency, detect errors, and validate the clinical meaning of generated reports.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type="ctrTitle"/>
          </p:nvPr>
        </p:nvSpPr>
        <p:spPr>
          <a:xfrm>
            <a:off x="607700" y="58425"/>
            <a:ext cx="60108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Requirement Analysis </a:t>
            </a:r>
            <a:endParaRPr sz="3600">
              <a:latin typeface="Times New Roman"/>
              <a:ea typeface="Times New Roman"/>
              <a:cs typeface="Times New Roman"/>
              <a:sym typeface="Times New Roman"/>
            </a:endParaRPr>
          </a:p>
        </p:txBody>
      </p:sp>
      <p:pic>
        <p:nvPicPr>
          <p:cNvPr id="184" name="Google Shape;184;p16"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85" name="Google Shape;185;p16"/>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186" name="Google Shape;186;p16"/>
          <p:cNvSpPr txBox="1"/>
          <p:nvPr/>
        </p:nvSpPr>
        <p:spPr>
          <a:xfrm>
            <a:off x="607700" y="897902"/>
            <a:ext cx="8161500" cy="408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sz="1800">
                <a:solidFill>
                  <a:schemeClr val="dk1"/>
                </a:solidFill>
              </a:rPr>
              <a:t>Functional Requirements</a:t>
            </a:r>
            <a:endParaRPr b="1" sz="1800">
              <a:solidFill>
                <a:schemeClr val="dk1"/>
              </a:solidFill>
            </a:endParaRPr>
          </a:p>
          <a:p>
            <a:pPr indent="-228600" lvl="0" marL="457200" rtl="0" algn="just">
              <a:spcBef>
                <a:spcPts val="0"/>
              </a:spcBef>
              <a:spcAft>
                <a:spcPts val="0"/>
              </a:spcAft>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Accept medical images (X-rays) as input</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Preprocess images (resize, normalize)</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Extract image features using CNN / Vision Transformer</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Generate medical reports using Transformer/LSTM model</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Perform text preprocessing (tokenization, cleaning)</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Validate generated reports using:</a:t>
            </a:r>
            <a:endParaRPr sz="1800">
              <a:solidFill>
                <a:schemeClr val="dk1"/>
              </a:solidFill>
            </a:endParaRPr>
          </a:p>
          <a:p>
            <a:pPr indent="0" lvl="0" marL="0" rtl="0" algn="just">
              <a:spcBef>
                <a:spcPts val="0"/>
              </a:spcBef>
              <a:spcAft>
                <a:spcPts val="0"/>
              </a:spcAft>
              <a:buNone/>
            </a:pPr>
            <a:r>
              <a:rPr lang="en-US" sz="1800">
                <a:solidFill>
                  <a:schemeClr val="dk1"/>
                </a:solidFill>
              </a:rPr>
              <a:t>                     i) BERT-based semantic similarity</a:t>
            </a:r>
            <a:endParaRPr sz="1800">
              <a:solidFill>
                <a:schemeClr val="dk1"/>
              </a:solidFill>
            </a:endParaRPr>
          </a:p>
          <a:p>
            <a:pPr indent="0" lvl="0" marL="0" rtl="0" algn="just">
              <a:spcBef>
                <a:spcPts val="0"/>
              </a:spcBef>
              <a:spcAft>
                <a:spcPts val="0"/>
              </a:spcAft>
              <a:buNone/>
            </a:pPr>
            <a:r>
              <a:rPr lang="en-US" sz="1800">
                <a:solidFill>
                  <a:schemeClr val="dk1"/>
                </a:solidFill>
              </a:rPr>
              <a:t>                     ii) N-gram and TF-IDF analysis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rPr>
              <a:t> Detect missing or incorrect medical terms</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Compare generated report with reference report</a:t>
            </a:r>
            <a:endParaRPr sz="1800">
              <a:solidFill>
                <a:schemeClr val="dk1"/>
              </a:solidFill>
            </a:endParaRPr>
          </a:p>
          <a:p>
            <a:pPr indent="-342900" lvl="0" marL="457200" rtl="0" algn="just">
              <a:spcBef>
                <a:spcPts val="0"/>
              </a:spcBef>
              <a:spcAft>
                <a:spcPts val="0"/>
              </a:spcAft>
              <a:buClr>
                <a:schemeClr val="dk1"/>
              </a:buClr>
              <a:buSzPts val="1800"/>
              <a:buChar char="●"/>
            </a:pPr>
            <a:r>
              <a:rPr lang="en-US" sz="1800">
                <a:solidFill>
                  <a:schemeClr val="dk1"/>
                </a:solidFill>
              </a:rPr>
              <a:t>Display final validated report with accuracy metrics</a:t>
            </a:r>
            <a:endParaRPr sz="1800">
              <a:solidFill>
                <a:schemeClr val="dk1"/>
              </a:solidFill>
            </a:endParaRPr>
          </a:p>
          <a:p>
            <a:pPr indent="-22860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dede6569a0_0_23"/>
          <p:cNvSpPr txBox="1"/>
          <p:nvPr>
            <p:ph type="ctrTitle"/>
          </p:nvPr>
        </p:nvSpPr>
        <p:spPr>
          <a:xfrm>
            <a:off x="420950" y="58425"/>
            <a:ext cx="61977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Requirement Analysis </a:t>
            </a:r>
            <a:endParaRPr sz="3600">
              <a:latin typeface="Times New Roman"/>
              <a:ea typeface="Times New Roman"/>
              <a:cs typeface="Times New Roman"/>
              <a:sym typeface="Times New Roman"/>
            </a:endParaRPr>
          </a:p>
        </p:txBody>
      </p:sp>
      <p:pic>
        <p:nvPicPr>
          <p:cNvPr id="192" name="Google Shape;192;g3dede6569a0_0_23"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193" name="Google Shape;193;g3dede6569a0_0_23"/>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194" name="Google Shape;194;g3dede6569a0_0_23"/>
          <p:cNvSpPr txBox="1"/>
          <p:nvPr/>
        </p:nvSpPr>
        <p:spPr>
          <a:xfrm>
            <a:off x="607700" y="897902"/>
            <a:ext cx="8161500" cy="408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sz="1800">
                <a:solidFill>
                  <a:schemeClr val="dk1"/>
                </a:solidFill>
              </a:rPr>
              <a:t>Non-Functional Requirements</a:t>
            </a:r>
            <a:endParaRPr b="1" sz="1800">
              <a:solidFill>
                <a:schemeClr val="dk1"/>
              </a:solidFill>
            </a:endParaRPr>
          </a:p>
          <a:p>
            <a:pPr indent="-228600" lvl="0" marL="457200" rtl="0" algn="just">
              <a:spcBef>
                <a:spcPts val="0"/>
              </a:spcBef>
              <a:spcAft>
                <a:spcPts val="0"/>
              </a:spcAft>
              <a:buNone/>
            </a:pPr>
            <a:r>
              <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Accuracy:</a:t>
            </a:r>
            <a:r>
              <a:rPr lang="en-US" sz="1800">
                <a:solidFill>
                  <a:schemeClr val="dk1"/>
                </a:solidFill>
              </a:rPr>
              <a:t> High clinical correctness in generated reports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Performance:</a:t>
            </a:r>
            <a:r>
              <a:rPr lang="en-US" sz="1800">
                <a:solidFill>
                  <a:schemeClr val="dk1"/>
                </a:solidFill>
              </a:rPr>
              <a:t> Fast report generation and validation</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Scalability:</a:t>
            </a:r>
            <a:r>
              <a:rPr lang="en-US" sz="1800">
                <a:solidFill>
                  <a:schemeClr val="dk1"/>
                </a:solidFill>
              </a:rPr>
              <a:t> Handle large medical datasets efficiently</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Reliability:</a:t>
            </a:r>
            <a:r>
              <a:rPr lang="en-US" sz="1800">
                <a:solidFill>
                  <a:schemeClr val="dk1"/>
                </a:solidFill>
              </a:rPr>
              <a:t> Consistent and error-free outputs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Usability:</a:t>
            </a:r>
            <a:r>
              <a:rPr lang="en-US" sz="1800">
                <a:solidFill>
                  <a:schemeClr val="dk1"/>
                </a:solidFill>
              </a:rPr>
              <a:t> Simple and user-friendly interface</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Security &amp; Privacy:</a:t>
            </a:r>
            <a:r>
              <a:rPr lang="en-US" sz="1800">
                <a:solidFill>
                  <a:schemeClr val="dk1"/>
                </a:solidFill>
              </a:rPr>
              <a:t> Protect sensitive patient data</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Maintainability:</a:t>
            </a:r>
            <a:r>
              <a:rPr lang="en-US" sz="1800">
                <a:solidFill>
                  <a:schemeClr val="dk1"/>
                </a:solidFill>
              </a:rPr>
              <a:t> Easy to update models and system</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Compatibility:</a:t>
            </a:r>
            <a:r>
              <a:rPr lang="en-US" sz="1800">
                <a:solidFill>
                  <a:schemeClr val="dk1"/>
                </a:solidFill>
              </a:rPr>
              <a:t> Works with standard datasets and systems</a:t>
            </a:r>
            <a:endParaRPr sz="1800">
              <a:solidFill>
                <a:schemeClr val="dk1"/>
              </a:solidFill>
            </a:endParaRPr>
          </a:p>
          <a:p>
            <a:pPr indent="-342900" lvl="0" marL="457200" rtl="0" algn="just">
              <a:lnSpc>
                <a:spcPct val="115000"/>
              </a:lnSpc>
              <a:spcBef>
                <a:spcPts val="0"/>
              </a:spcBef>
              <a:spcAft>
                <a:spcPts val="0"/>
              </a:spcAft>
              <a:buClr>
                <a:schemeClr val="dk1"/>
              </a:buClr>
              <a:buSzPts val="1800"/>
              <a:buChar char="●"/>
            </a:pPr>
            <a:r>
              <a:rPr b="1" lang="en-US" sz="1800">
                <a:solidFill>
                  <a:schemeClr val="dk1"/>
                </a:solidFill>
              </a:rPr>
              <a:t>Availability:</a:t>
            </a:r>
            <a:r>
              <a:rPr lang="en-US" sz="1800">
                <a:solidFill>
                  <a:schemeClr val="dk1"/>
                </a:solidFill>
              </a:rPr>
              <a:t> System should be accessible when needed</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ctrTitle"/>
          </p:nvPr>
        </p:nvSpPr>
        <p:spPr>
          <a:xfrm>
            <a:off x="295275" y="58420"/>
            <a:ext cx="4165600" cy="650875"/>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Proposed Plan</a:t>
            </a:r>
            <a:endParaRPr sz="3600">
              <a:latin typeface="Times New Roman"/>
              <a:ea typeface="Times New Roman"/>
              <a:cs typeface="Times New Roman"/>
              <a:sym typeface="Times New Roman"/>
            </a:endParaRPr>
          </a:p>
        </p:txBody>
      </p:sp>
      <p:pic>
        <p:nvPicPr>
          <p:cNvPr id="200" name="Google Shape;200;p15"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01" name="Google Shape;201;p15"/>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202" name="Google Shape;202;p15"/>
          <p:cNvSpPr txBox="1"/>
          <p:nvPr/>
        </p:nvSpPr>
        <p:spPr>
          <a:xfrm>
            <a:off x="0" y="1162525"/>
            <a:ext cx="8728500" cy="3587700"/>
          </a:xfrm>
          <a:prstGeom prst="rect">
            <a:avLst/>
          </a:prstGeom>
          <a:noFill/>
          <a:ln>
            <a:noFill/>
          </a:ln>
        </p:spPr>
        <p:txBody>
          <a:bodyPr anchorCtr="0" anchor="t" bIns="45700" lIns="91425" spcFirstLastPara="1" rIns="91425" wrap="square" tIns="45700">
            <a:noAutofit/>
          </a:bodyPr>
          <a:lstStyle/>
          <a:p>
            <a:pPr indent="-342900" lvl="0" marL="457200" rtl="0" algn="just">
              <a:spcBef>
                <a:spcPts val="0"/>
              </a:spcBef>
              <a:spcAft>
                <a:spcPts val="0"/>
              </a:spcAft>
              <a:buSzPts val="1800"/>
              <a:buChar char="●"/>
            </a:pPr>
            <a:r>
              <a:rPr lang="en-US" sz="1800"/>
              <a:t>The proposed system consists of three main components, namely image analysis, report generation, and report validation.</a:t>
            </a:r>
            <a:endParaRPr sz="1800"/>
          </a:p>
          <a:p>
            <a:pPr indent="-342900" lvl="0" marL="457200" rtl="0" algn="just">
              <a:spcBef>
                <a:spcPts val="0"/>
              </a:spcBef>
              <a:spcAft>
                <a:spcPts val="0"/>
              </a:spcAft>
              <a:buSzPts val="1800"/>
              <a:buChar char="●"/>
            </a:pPr>
            <a:r>
              <a:rPr lang="en-US" sz="1800"/>
              <a:t>In the first stage, image features are extracted from medical images using deep learning models such as Convolutional Neural Networks (CNN) or Vision Transformers (ViT).</a:t>
            </a:r>
            <a:endParaRPr sz="1800"/>
          </a:p>
          <a:p>
            <a:pPr indent="-342900" lvl="0" marL="457200" rtl="0" algn="just">
              <a:spcBef>
                <a:spcPts val="0"/>
              </a:spcBef>
              <a:spcAft>
                <a:spcPts val="0"/>
              </a:spcAft>
              <a:buSzPts val="1800"/>
              <a:buChar char="●"/>
            </a:pPr>
            <a:r>
              <a:rPr lang="en-US" sz="1800"/>
              <a:t>In the next stage, a Transformer-based model is used to generate a medical report by converting the extracted image features into meaningful textual descriptions.</a:t>
            </a:r>
            <a:endParaRPr sz="1800"/>
          </a:p>
          <a:p>
            <a:pPr indent="-342900" lvl="0" marL="457200" rtl="0" algn="just">
              <a:spcBef>
                <a:spcPts val="0"/>
              </a:spcBef>
              <a:spcAft>
                <a:spcPts val="0"/>
              </a:spcAft>
              <a:buSzPts val="1800"/>
              <a:buChar char="●"/>
            </a:pPr>
            <a:r>
              <a:rPr lang="en-US" sz="1800"/>
              <a:t>In the final stage, a verification module is applied to validate the generated report using Natural Language Processing (NLP) techniques such as n-grams, semantic similarity, and medical terminology checking.</a:t>
            </a:r>
            <a:endParaRPr sz="1800"/>
          </a:p>
          <a:p>
            <a:pPr indent="-342900" lvl="0" marL="457200" rtl="0" algn="just">
              <a:spcBef>
                <a:spcPts val="0"/>
              </a:spcBef>
              <a:spcAft>
                <a:spcPts val="0"/>
              </a:spcAft>
              <a:buSzPts val="1800"/>
              <a:buChar char="●"/>
            </a:pPr>
            <a:r>
              <a:rPr lang="en-US" sz="1800"/>
              <a:t>The system is trained and evaluated using medical image datasets along with standard evaluation metrics to measure its performance and accuracy</a:t>
            </a:r>
            <a:endParaRPr sz="1800"/>
          </a:p>
          <a:p>
            <a:pPr indent="0" lvl="0" marL="0" marR="0" rtl="0" algn="just">
              <a:lnSpc>
                <a:spcPct val="100000"/>
              </a:lnSpc>
              <a:spcBef>
                <a:spcPts val="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de2e5b7db2_0_126"/>
          <p:cNvSpPr txBox="1"/>
          <p:nvPr>
            <p:ph type="ctrTitle"/>
          </p:nvPr>
        </p:nvSpPr>
        <p:spPr>
          <a:xfrm>
            <a:off x="295275" y="58425"/>
            <a:ext cx="61746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Proposed Architecture</a:t>
            </a:r>
            <a:endParaRPr sz="3600">
              <a:latin typeface="Times New Roman"/>
              <a:ea typeface="Times New Roman"/>
              <a:cs typeface="Times New Roman"/>
              <a:sym typeface="Times New Roman"/>
            </a:endParaRPr>
          </a:p>
        </p:txBody>
      </p:sp>
      <p:pic>
        <p:nvPicPr>
          <p:cNvPr id="208" name="Google Shape;208;g3de2e5b7db2_0_126"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09" name="Google Shape;209;g3de2e5b7db2_0_126"/>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pic>
        <p:nvPicPr>
          <p:cNvPr id="210" name="Google Shape;210;g3de2e5b7db2_0_126"/>
          <p:cNvPicPr preferRelativeResize="0"/>
          <p:nvPr/>
        </p:nvPicPr>
        <p:blipFill>
          <a:blip r:embed="rId4">
            <a:alphaModFix/>
          </a:blip>
          <a:stretch>
            <a:fillRect/>
          </a:stretch>
        </p:blipFill>
        <p:spPr>
          <a:xfrm>
            <a:off x="714262" y="774575"/>
            <a:ext cx="7688774" cy="4289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d5742e4968_0_8"/>
          <p:cNvSpPr txBox="1"/>
          <p:nvPr>
            <p:ph type="ctrTitle"/>
          </p:nvPr>
        </p:nvSpPr>
        <p:spPr>
          <a:xfrm>
            <a:off x="295275" y="58425"/>
            <a:ext cx="61746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600">
                <a:latin typeface="Times New Roman"/>
                <a:ea typeface="Times New Roman"/>
                <a:cs typeface="Times New Roman"/>
                <a:sym typeface="Times New Roman"/>
              </a:rPr>
              <a:t>Evaluation Metrics &amp; KPIs</a:t>
            </a:r>
            <a:endParaRPr sz="3600">
              <a:latin typeface="Times New Roman"/>
              <a:ea typeface="Times New Roman"/>
              <a:cs typeface="Times New Roman"/>
              <a:sym typeface="Times New Roman"/>
            </a:endParaRPr>
          </a:p>
        </p:txBody>
      </p:sp>
      <p:pic>
        <p:nvPicPr>
          <p:cNvPr id="216" name="Google Shape;216;g3d5742e4968_0_8"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17" name="Google Shape;217;g3d5742e4968_0_8"/>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218" name="Google Shape;218;g3d5742e4968_0_8"/>
          <p:cNvSpPr txBox="1"/>
          <p:nvPr/>
        </p:nvSpPr>
        <p:spPr>
          <a:xfrm>
            <a:off x="559200" y="890800"/>
            <a:ext cx="7998900" cy="40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a:solidFill>
                  <a:schemeClr val="dk1"/>
                </a:solidFill>
              </a:rPr>
              <a:t>Semantic Validation (Primary Metric)</a:t>
            </a:r>
            <a:endParaRPr b="1"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BERT-based Cosine Similarity</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Valid Report: &gt; 0.75</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Measures clinical meaning and correctness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Keyword Validation</a:t>
            </a:r>
            <a:endParaRPr b="1"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N-gram + TF-IDF Analysis</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Accuracy: 80% – 90%</a:t>
            </a:r>
            <a:endParaRPr sz="1800">
              <a:solidFill>
                <a:schemeClr val="dk1"/>
              </a:solidFill>
            </a:endParaRPr>
          </a:p>
          <a:p>
            <a:pPr indent="0" lvl="0" marL="0" rtl="0" algn="l">
              <a:spcBef>
                <a:spcPts val="0"/>
              </a:spcBef>
              <a:spcAft>
                <a:spcPts val="0"/>
              </a:spcAft>
              <a:buNone/>
            </a:pPr>
            <a:r>
              <a:rPr lang="en-US" sz="1800">
                <a:solidFill>
                  <a:schemeClr val="dk1"/>
                </a:solidFill>
              </a:rPr>
              <a:t>Detects missing or incorrect medical terms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Diagnostic Alignment</a:t>
            </a:r>
            <a:endParaRPr b="1" sz="1800">
              <a:solidFill>
                <a:schemeClr val="dk1"/>
              </a:solidFill>
            </a:endParaRPr>
          </a:p>
          <a:p>
            <a:pPr indent="0" lvl="0" marL="0" rtl="0" algn="l">
              <a:spcBef>
                <a:spcPts val="0"/>
              </a:spcBef>
              <a:spcAft>
                <a:spcPts val="0"/>
              </a:spcAft>
              <a:buNone/>
            </a:pPr>
            <a:r>
              <a:rPr lang="en-US" sz="1800">
                <a:solidFill>
                  <a:schemeClr val="dk1"/>
                </a:solidFill>
              </a:rPr>
              <a:t>Accuracy: 70% – 85%</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Measures match between generated and actual findings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de2e5b7db2_0_8"/>
          <p:cNvSpPr txBox="1"/>
          <p:nvPr>
            <p:ph type="ctrTitle"/>
          </p:nvPr>
        </p:nvSpPr>
        <p:spPr>
          <a:xfrm>
            <a:off x="340775" y="58425"/>
            <a:ext cx="6277800" cy="651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5200"/>
              <a:buFont typeface="Arial"/>
              <a:buNone/>
            </a:pPr>
            <a:r>
              <a:rPr lang="en-US" sz="3600">
                <a:latin typeface="Times New Roman"/>
                <a:ea typeface="Times New Roman"/>
                <a:cs typeface="Times New Roman"/>
                <a:sym typeface="Times New Roman"/>
              </a:rPr>
              <a:t>Task Identification</a:t>
            </a:r>
            <a:endParaRPr sz="3600">
              <a:latin typeface="Times New Roman"/>
              <a:ea typeface="Times New Roman"/>
              <a:cs typeface="Times New Roman"/>
              <a:sym typeface="Times New Roman"/>
            </a:endParaRPr>
          </a:p>
        </p:txBody>
      </p:sp>
      <p:pic>
        <p:nvPicPr>
          <p:cNvPr id="224" name="Google Shape;224;g3de2e5b7db2_0_8"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25" name="Google Shape;225;g3de2e5b7db2_0_8"/>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226" name="Google Shape;226;g3de2e5b7db2_0_8"/>
          <p:cNvSpPr txBox="1"/>
          <p:nvPr/>
        </p:nvSpPr>
        <p:spPr>
          <a:xfrm>
            <a:off x="340775" y="709425"/>
            <a:ext cx="8428800" cy="43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700">
                <a:solidFill>
                  <a:schemeClr val="dk1"/>
                </a:solidFill>
              </a:rPr>
              <a:t>Modules / Tasks</a:t>
            </a:r>
            <a:endParaRPr b="1" sz="1700">
              <a:solidFill>
                <a:schemeClr val="dk1"/>
              </a:solidFill>
            </a:endParaRPr>
          </a:p>
          <a:p>
            <a:pPr indent="0" lvl="0" marL="457200" rtl="0" algn="l">
              <a:spcBef>
                <a:spcPts val="0"/>
              </a:spcBef>
              <a:spcAft>
                <a:spcPts val="0"/>
              </a:spcAft>
              <a:buClr>
                <a:schemeClr val="dk1"/>
              </a:buClr>
              <a:buSzPts val="1100"/>
              <a:buFont typeface="Arial"/>
              <a:buNone/>
            </a:pPr>
            <a:r>
              <a:t/>
            </a:r>
            <a:endParaRPr b="1" sz="1700">
              <a:solidFill>
                <a:schemeClr val="dk1"/>
              </a:solidFill>
            </a:endParaRPr>
          </a:p>
          <a:p>
            <a:pPr indent="-336550" lvl="0" marL="457200" rtl="0" algn="l">
              <a:spcBef>
                <a:spcPts val="0"/>
              </a:spcBef>
              <a:spcAft>
                <a:spcPts val="0"/>
              </a:spcAft>
              <a:buClr>
                <a:schemeClr val="dk1"/>
              </a:buClr>
              <a:buSzPts val="1700"/>
              <a:buAutoNum type="arabicPeriod"/>
            </a:pPr>
            <a:r>
              <a:rPr lang="en-US" sz="1700">
                <a:solidFill>
                  <a:schemeClr val="dk1"/>
                </a:solidFill>
              </a:rPr>
              <a:t>Data Preprocessing</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Image normalization, resizing</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Text preprocessing (tokenization, stopword removal, lemmatization)</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US" sz="1700">
                <a:solidFill>
                  <a:schemeClr val="dk1"/>
                </a:solidFill>
              </a:rPr>
              <a:t>Image Feature Extraction</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CNN (ResNet) / Vision Transformer</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US" sz="1700">
                <a:solidFill>
                  <a:schemeClr val="dk1"/>
                </a:solidFill>
              </a:rPr>
              <a:t>Report Generation</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LSTM / Transformer-based sequence model</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US" sz="1700">
                <a:solidFill>
                  <a:schemeClr val="dk1"/>
                </a:solidFill>
              </a:rPr>
              <a:t>Report Verification (Core Module)</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n-gram extraction</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TF-IDF vectorization</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Cosine similarity computation</a:t>
            </a:r>
            <a:endParaRPr sz="1700">
              <a:solidFill>
                <a:schemeClr val="dk1"/>
              </a:solidFill>
            </a:endParaRPr>
          </a:p>
          <a:p>
            <a:pPr indent="-336550" lvl="1" marL="914400" rtl="0" algn="l">
              <a:spcBef>
                <a:spcPts val="0"/>
              </a:spcBef>
              <a:spcAft>
                <a:spcPts val="0"/>
              </a:spcAft>
              <a:buClr>
                <a:schemeClr val="dk1"/>
              </a:buClr>
              <a:buSzPts val="1700"/>
              <a:buAutoNum type="alphaLcPeriod"/>
            </a:pPr>
            <a:r>
              <a:rPr lang="en-US" sz="1700">
                <a:solidFill>
                  <a:schemeClr val="dk1"/>
                </a:solidFill>
              </a:rPr>
              <a:t>Embedding-based similarity (Word2Vec/BERT)</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US" sz="1700">
                <a:solidFill>
                  <a:schemeClr val="dk1"/>
                </a:solidFill>
              </a:rPr>
              <a:t>Evaluation Module</a:t>
            </a:r>
            <a:endParaRPr sz="1700">
              <a:solidFill>
                <a:schemeClr val="dk1"/>
              </a:solidFill>
            </a:endParaRPr>
          </a:p>
          <a:p>
            <a:pPr indent="-342900" lvl="0" marL="914400" rtl="0" algn="l">
              <a:spcBef>
                <a:spcPts val="0"/>
              </a:spcBef>
              <a:spcAft>
                <a:spcPts val="0"/>
              </a:spcAft>
              <a:buClr>
                <a:schemeClr val="dk1"/>
              </a:buClr>
              <a:buSzPts val="1800"/>
              <a:buAutoNum type="alphaLcPeriod"/>
            </a:pPr>
            <a:r>
              <a:rPr lang="en-US" sz="1800">
                <a:solidFill>
                  <a:schemeClr val="dk1"/>
                </a:solidFill>
              </a:rPr>
              <a:t>BERT-based Cosine Similarity and accuracy metrics</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US" sz="1700">
                <a:solidFill>
                  <a:schemeClr val="dk1"/>
                </a:solidFill>
              </a:rPr>
              <a:t>Integration &amp; Interface</a:t>
            </a:r>
            <a:endParaRPr sz="17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txBox="1"/>
          <p:nvPr>
            <p:ph type="ctrTitle"/>
          </p:nvPr>
        </p:nvSpPr>
        <p:spPr>
          <a:xfrm>
            <a:off x="330850" y="7963"/>
            <a:ext cx="64215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300">
                <a:latin typeface="Times New Roman"/>
                <a:ea typeface="Times New Roman"/>
                <a:cs typeface="Times New Roman"/>
                <a:sym typeface="Times New Roman"/>
              </a:rPr>
              <a:t>Applicability in the Societal Context</a:t>
            </a:r>
            <a:endParaRPr sz="3300">
              <a:latin typeface="Times New Roman"/>
              <a:ea typeface="Times New Roman"/>
              <a:cs typeface="Times New Roman"/>
              <a:sym typeface="Times New Roman"/>
            </a:endParaRPr>
          </a:p>
        </p:txBody>
      </p:sp>
      <p:pic>
        <p:nvPicPr>
          <p:cNvPr id="232" name="Google Shape;232;p17"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33" name="Google Shape;233;p17"/>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234" name="Google Shape;234;p17"/>
          <p:cNvSpPr txBox="1"/>
          <p:nvPr/>
        </p:nvSpPr>
        <p:spPr>
          <a:xfrm>
            <a:off x="607695" y="897890"/>
            <a:ext cx="8161655" cy="3510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1. Healthcare Accessibility: Automated report generation reduces dependency on specialist radiologists, making diagnostic services accessible in remote and underserved regions where expert radiologists are scarce.</a:t>
            </a:r>
            <a:br>
              <a:rPr b="0" i="0" lang="en-US" sz="1800" u="none" cap="none" strike="noStrike">
                <a:solidFill>
                  <a:srgbClr val="000000"/>
                </a:solidFill>
                <a:latin typeface="Arial"/>
                <a:ea typeface="Arial"/>
                <a:cs typeface="Arial"/>
                <a:sym typeface="Arial"/>
              </a:rPr>
            </a:b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 Reduced Diagnostic Delays: The system can generate and validate reports rapidly, cutting turnaround time for patients and enabling faster clinical decision-making in emergency scenarios.</a:t>
            </a:r>
            <a:br>
              <a:rPr b="0" i="0" lang="en-US" sz="1800" u="none" cap="none" strike="noStrike">
                <a:solidFill>
                  <a:srgbClr val="000000"/>
                </a:solidFill>
                <a:latin typeface="Arial"/>
                <a:ea typeface="Arial"/>
                <a:cs typeface="Arial"/>
                <a:sym typeface="Arial"/>
              </a:rPr>
            </a:b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3. Radiologist Support: Acts as a second-opinion tool that assists radiologists by flagging inconsistencies and highlighting regions of concern, reducing human error and cognitive fatigue.</a:t>
            </a:r>
            <a:br>
              <a:rPr b="0" i="0" lang="en-US" sz="1800" u="none" cap="none" strike="noStrike">
                <a:solidFill>
                  <a:srgbClr val="000000"/>
                </a:solidFill>
                <a:latin typeface="Arial"/>
                <a:ea typeface="Arial"/>
                <a:cs typeface="Arial"/>
                <a:sym typeface="Arial"/>
              </a:rPr>
            </a:b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4. Cost Reduction: Automating report generation lowers the cost of diagnostic services, making quality healthcare more affordable for lower-income populations.</a:t>
            </a:r>
            <a:br>
              <a:rPr b="0" i="0" lang="en-US" sz="1800" u="none" cap="none" strike="noStrike">
                <a:solidFill>
                  <a:srgbClr val="000000"/>
                </a:solidFill>
                <a:latin typeface="Arial"/>
                <a:ea typeface="Arial"/>
                <a:cs typeface="Arial"/>
                <a:sym typeface="Arial"/>
              </a:rPr>
            </a:br>
            <a:br>
              <a:rPr b="0" i="0" lang="en-US"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g3de2e5b7db2_0_17"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40" name="Google Shape;240;g3de2e5b7db2_0_17"/>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
        <p:nvSpPr>
          <p:cNvPr id="241" name="Google Shape;241;g3de2e5b7db2_0_17"/>
          <p:cNvSpPr txBox="1"/>
          <p:nvPr/>
        </p:nvSpPr>
        <p:spPr>
          <a:xfrm>
            <a:off x="607695" y="897890"/>
            <a:ext cx="8161800" cy="351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sz="1800">
                <a:solidFill>
                  <a:schemeClr val="dk1"/>
                </a:solidFill>
              </a:rPr>
              <a:t>5. Improved Patient Outcomes: More accurate and consistent reports lead to better diagnoses, timely treatment, and improved patient outcomes especially for diseases like pneumonia, tuberculosis, and cancer detectable via imaging.</a:t>
            </a:r>
            <a:br>
              <a:rPr lang="en-US" sz="1800">
                <a:solidFill>
                  <a:schemeClr val="dk1"/>
                </a:solidFill>
              </a:rPr>
            </a:br>
            <a:br>
              <a:rPr lang="en-US" sz="1800">
                <a:solidFill>
                  <a:schemeClr val="dk1"/>
                </a:solidFill>
              </a:rPr>
            </a:br>
            <a:r>
              <a:rPr lang="en-US" sz="1800">
                <a:solidFill>
                  <a:schemeClr val="dk1"/>
                </a:solidFill>
              </a:rPr>
              <a:t>6. Scalability in Public Health: During health crises or mass screening programs, the system can process large volumes of medical images efficiently without proportional increase in human workforce.</a:t>
            </a:r>
            <a:br>
              <a:rPr lang="en-US" sz="1800">
                <a:solidFill>
                  <a:schemeClr val="dk1"/>
                </a:solidFill>
              </a:rPr>
            </a:br>
            <a:br>
              <a:rPr lang="en-US" sz="1800">
                <a:solidFill>
                  <a:schemeClr val="dk1"/>
                </a:solidFill>
              </a:rPr>
            </a:br>
            <a:r>
              <a:rPr lang="en-US" sz="1800">
                <a:solidFill>
                  <a:schemeClr val="dk1"/>
                </a:solidFill>
              </a:rPr>
              <a:t>7. Educational Value: The system can serve as a training tool for medical students and junior radiologists by providing structured, validated reports as reference examples.</a:t>
            </a:r>
            <a:endParaRPr b="0" i="0" sz="1800" u="none" cap="none" strike="noStrike">
              <a:solidFill>
                <a:srgbClr val="000000"/>
              </a:solidFill>
              <a:latin typeface="Arial"/>
              <a:ea typeface="Arial"/>
              <a:cs typeface="Arial"/>
              <a:sym typeface="Arial"/>
            </a:endParaRPr>
          </a:p>
        </p:txBody>
      </p:sp>
      <p:sp>
        <p:nvSpPr>
          <p:cNvPr id="242" name="Google Shape;242;g3de2e5b7db2_0_17"/>
          <p:cNvSpPr txBox="1"/>
          <p:nvPr>
            <p:ph type="ctrTitle"/>
          </p:nvPr>
        </p:nvSpPr>
        <p:spPr>
          <a:xfrm>
            <a:off x="330850" y="7963"/>
            <a:ext cx="6421500" cy="651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3300">
                <a:latin typeface="Times New Roman"/>
                <a:ea typeface="Times New Roman"/>
                <a:cs typeface="Times New Roman"/>
                <a:sym typeface="Times New Roman"/>
              </a:rPr>
              <a:t>Applicability in the Societal Context</a:t>
            </a:r>
            <a:endParaRPr sz="33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8"/>
          <p:cNvSpPr txBox="1"/>
          <p:nvPr>
            <p:ph type="ctrTitle"/>
          </p:nvPr>
        </p:nvSpPr>
        <p:spPr>
          <a:xfrm>
            <a:off x="2075250" y="2208900"/>
            <a:ext cx="4993500" cy="725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US" sz="3600">
                <a:latin typeface="Times New Roman"/>
                <a:ea typeface="Times New Roman"/>
                <a:cs typeface="Times New Roman"/>
                <a:sym typeface="Times New Roman"/>
              </a:rPr>
              <a:t>Thank you</a:t>
            </a:r>
            <a:endParaRPr sz="3600">
              <a:latin typeface="Times New Roman"/>
              <a:ea typeface="Times New Roman"/>
              <a:cs typeface="Times New Roman"/>
              <a:sym typeface="Times New Roman"/>
            </a:endParaRPr>
          </a:p>
        </p:txBody>
      </p:sp>
      <p:pic>
        <p:nvPicPr>
          <p:cNvPr id="248" name="Google Shape;248;p18" title="kle logo.png"/>
          <p:cNvPicPr preferRelativeResize="0"/>
          <p:nvPr/>
        </p:nvPicPr>
        <p:blipFill rotWithShape="1">
          <a:blip r:embed="rId3">
            <a:alphaModFix/>
          </a:blip>
          <a:srcRect b="0" l="0" r="0" t="0"/>
          <a:stretch/>
        </p:blipFill>
        <p:spPr>
          <a:xfrm>
            <a:off x="6752350" y="58300"/>
            <a:ext cx="2315725" cy="550325"/>
          </a:xfrm>
          <a:prstGeom prst="rect">
            <a:avLst/>
          </a:prstGeom>
          <a:noFill/>
          <a:ln>
            <a:noFill/>
          </a:ln>
        </p:spPr>
      </p:pic>
      <p:cxnSp>
        <p:nvCxnSpPr>
          <p:cNvPr id="249" name="Google Shape;249;p18"/>
          <p:cNvCxnSpPr/>
          <p:nvPr/>
        </p:nvCxnSpPr>
        <p:spPr>
          <a:xfrm>
            <a:off x="-21150" y="674050"/>
            <a:ext cx="9159600" cy="35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2026-04-07T01:33:29Z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09ABDADB2AC44B12BAE155037DD786B3_13</vt:lpwstr>
  </property>
</Properties>
</file>